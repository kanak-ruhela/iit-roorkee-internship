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93" r:id="rId3"/>
    <p:sldId id="259" r:id="rId4"/>
    <p:sldId id="261" r:id="rId5"/>
    <p:sldId id="266" r:id="rId6"/>
    <p:sldId id="270" r:id="rId7"/>
    <p:sldId id="273" r:id="rId8"/>
    <p:sldId id="276" r:id="rId9"/>
    <p:sldId id="277" r:id="rId10"/>
    <p:sldId id="294" r:id="rId11"/>
    <p:sldId id="280" r:id="rId12"/>
    <p:sldId id="285" r:id="rId13"/>
    <p:sldId id="295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9c4ff8eeac533f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F9377-6F94-490F-9A63-AE8D6B38D8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D623F-75C1-4842-BFEC-5061DE9133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157BA-9BC1-481C-BAF8-635A4BC68F10}" type="datetimeFigureOut">
              <a:rPr lang="en-AE" smtClean="0"/>
              <a:t>02/07/2026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92D89-C239-4B42-9867-09A32AC4C0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16929-1868-4968-AF68-607885D0C3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2D2E5-45AB-4F68-92B6-468427DF8DF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66376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5CBB1-751D-42AA-81F8-AB883C77D6FB}" type="datetimeFigureOut">
              <a:rPr lang="en-AE" smtClean="0"/>
              <a:t>02/07/2026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2F36A-A342-4A22-BCD4-1D106DEFEA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242712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www.kaggle.com/competitions/nlp-getting-started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kaggle.com/datasets" TargetMode="External"/><Relationship Id="rId5" Type="http://schemas.openxmlformats.org/officeDocument/2006/relationships/hyperlink" Target="https://scikit-learn.org/stable/getting_started.html" TargetMode="External"/><Relationship Id="rId4" Type="http://schemas.openxmlformats.org/officeDocument/2006/relationships/hyperlink" Target="https://developers.google.com/machine-learning/crash-cour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</a:rPr>
              <a:t>Machine Learning 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Kanak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Joined Date:9-June-2026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02060"/>
                </a:solidFill>
                <a:latin typeface="Calibri" pitchFamily="34" charset="0"/>
              </a:rPr>
              <a:t>Table of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8064F-9917-4F2B-88D5-D5D50E5C89AB}"/>
              </a:ext>
            </a:extLst>
          </p:cNvPr>
          <p:cNvSpPr txBox="1"/>
          <p:nvPr/>
        </p:nvSpPr>
        <p:spPr>
          <a:xfrm>
            <a:off x="580445" y="1288111"/>
            <a:ext cx="8309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Introduction to 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 Preprocessing &amp; 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Linear &amp;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Decision Trees &amp; Random Forests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SVM &amp; K-Nearest Neighbors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Clustering &amp; Dimensionality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Model Evaluation &amp; 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Feature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Introduction to NLP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28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Introduction to Machine Learning</a:t>
            </a:r>
          </a:p>
        </p:txBody>
      </p:sp>
      <p:sp>
        <p:nvSpPr>
          <p:cNvPr id="7" name="Sp6"/>
          <p:cNvSpPr/>
          <p:nvPr/>
        </p:nvSpPr>
        <p:spPr>
          <a:xfrm>
            <a:off x="143124" y="970027"/>
            <a:ext cx="11591676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What is Machine Learning?</a:t>
            </a:r>
          </a:p>
          <a:p>
            <a:pPr>
              <a:spcBef>
                <a:spcPts val="400"/>
              </a:spcBef>
            </a:pP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A branch of AI that enables systems to learn from data and improve without being explicitly programmed.</a:t>
            </a:r>
          </a:p>
          <a:p>
            <a:pPr>
              <a:spcBef>
                <a:spcPts val="400"/>
              </a:spcBef>
            </a:pP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 Ex –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 </a:t>
            </a:r>
            <a:r>
              <a:rPr lang="en-US" sz="165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</a:rPr>
              <a:t>You Tube recommendations - Learn from watch history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</a:rPr>
              <a:t>  Spam Detection in Gmail – Learns Patterns in spam emails </a:t>
            </a:r>
          </a:p>
          <a:p>
            <a:pPr>
              <a:spcBef>
                <a:spcPts val="400"/>
              </a:spcBef>
            </a:pPr>
            <a:r>
              <a:rPr lang="en-US" sz="165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</a:rPr>
              <a:t>                                             </a:t>
            </a:r>
          </a:p>
          <a:p>
            <a:pPr>
              <a:spcBef>
                <a:spcPts val="400"/>
              </a:spcBef>
            </a:pPr>
            <a:endParaRPr lang="en-US" sz="1650" dirty="0">
              <a:solidFill>
                <a:schemeClr val="accent1">
                  <a:lumMod val="50000"/>
                </a:schemeClr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r>
              <a:rPr lang="en-US" sz="16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           </a:t>
            </a:r>
            <a:r>
              <a:rPr lang="en-US" sz="165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</a:rPr>
              <a:t>                                                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Calibri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3B4FB9-6362-480A-B914-B03D162878E2}"/>
              </a:ext>
            </a:extLst>
          </p:cNvPr>
          <p:cNvCxnSpPr/>
          <p:nvPr/>
        </p:nvCxnSpPr>
        <p:spPr>
          <a:xfrm>
            <a:off x="1680308" y="445476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22A7B4-E7C0-43D5-8EEB-578F4267CA89}"/>
              </a:ext>
            </a:extLst>
          </p:cNvPr>
          <p:cNvSpPr txBox="1"/>
          <p:nvPr/>
        </p:nvSpPr>
        <p:spPr>
          <a:xfrm>
            <a:off x="432683" y="2593939"/>
            <a:ext cx="105831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alibri" pitchFamily="34" charset="0"/>
              </a:rPr>
              <a:t>Types of Machine Learning:-</a:t>
            </a:r>
          </a:p>
          <a:p>
            <a:endParaRPr lang="en-AE" dirty="0"/>
          </a:p>
        </p:txBody>
      </p:sp>
      <p:sp>
        <p:nvSpPr>
          <p:cNvPr id="28" name="Box6">
            <a:extLst>
              <a:ext uri="{FF2B5EF4-FFF2-40B4-BE49-F238E27FC236}">
                <a16:creationId xmlns:a16="http://schemas.microsoft.com/office/drawing/2014/main" id="{F9118397-4722-4DD7-A4EB-432316360FC2}"/>
              </a:ext>
            </a:extLst>
          </p:cNvPr>
          <p:cNvSpPr/>
          <p:nvPr/>
        </p:nvSpPr>
        <p:spPr>
          <a:xfrm>
            <a:off x="432683" y="3090446"/>
            <a:ext cx="4059141" cy="677108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1.  Supervised Learning</a:t>
            </a:r>
          </a:p>
        </p:txBody>
      </p:sp>
      <p:sp>
        <p:nvSpPr>
          <p:cNvPr id="31" name="Box7">
            <a:extLst>
              <a:ext uri="{FF2B5EF4-FFF2-40B4-BE49-F238E27FC236}">
                <a16:creationId xmlns:a16="http://schemas.microsoft.com/office/drawing/2014/main" id="{A7187B6B-9659-4E52-8B6B-91C5F5B51EC0}"/>
              </a:ext>
            </a:extLst>
          </p:cNvPr>
          <p:cNvSpPr/>
          <p:nvPr/>
        </p:nvSpPr>
        <p:spPr>
          <a:xfrm>
            <a:off x="7010813" y="3029559"/>
            <a:ext cx="3870961" cy="618875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2.  Unsupervised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F4A79-C15A-45B4-B4F8-5A99EBB830CD}"/>
              </a:ext>
            </a:extLst>
          </p:cNvPr>
          <p:cNvSpPr txBox="1"/>
          <p:nvPr/>
        </p:nvSpPr>
        <p:spPr>
          <a:xfrm>
            <a:off x="158361" y="3760582"/>
            <a:ext cx="5565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We give the machine input and the correct answers and it learns to predict.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In short, we can say we have both input and output variables.</a:t>
            </a:r>
            <a:endParaRPr lang="en-A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8AC0BF-EEF6-4B89-A859-4A080F90DF5B}"/>
              </a:ext>
            </a:extLst>
          </p:cNvPr>
          <p:cNvSpPr txBox="1"/>
          <p:nvPr/>
        </p:nvSpPr>
        <p:spPr>
          <a:xfrm>
            <a:off x="6639340" y="3622389"/>
            <a:ext cx="5095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Here also we will get the data but we are not going to predict anything. We will just find patterns, group similar items.</a:t>
            </a:r>
            <a:endParaRPr lang="en-AE" dirty="0"/>
          </a:p>
        </p:txBody>
      </p:sp>
      <p:sp>
        <p:nvSpPr>
          <p:cNvPr id="32" name="Box10">
            <a:extLst>
              <a:ext uri="{FF2B5EF4-FFF2-40B4-BE49-F238E27FC236}">
                <a16:creationId xmlns:a16="http://schemas.microsoft.com/office/drawing/2014/main" id="{94650E1B-1C9E-44AE-8247-220C4F88C316}"/>
              </a:ext>
            </a:extLst>
          </p:cNvPr>
          <p:cNvSpPr/>
          <p:nvPr/>
        </p:nvSpPr>
        <p:spPr>
          <a:xfrm>
            <a:off x="3939207" y="4769648"/>
            <a:ext cx="3570137" cy="614367"/>
          </a:xfrm>
          <a:prstGeom prst="roundRect">
            <a:avLst>
              <a:gd name="adj" fmla="val 20000"/>
            </a:avLst>
          </a:prstGeom>
          <a:solidFill>
            <a:srgbClr val="154360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3.  Reinforcement Learning</a:t>
            </a:r>
          </a:p>
          <a:p>
            <a:pPr algn="ctr"/>
            <a:endParaRPr lang="en-US" sz="1550" dirty="0">
              <a:solidFill>
                <a:srgbClr val="D6EAF8"/>
              </a:solidFill>
              <a:latin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1F991-9F6D-4173-BA20-73D7EA6D3371}"/>
              </a:ext>
            </a:extLst>
          </p:cNvPr>
          <p:cNvSpPr txBox="1"/>
          <p:nvPr/>
        </p:nvSpPr>
        <p:spPr>
          <a:xfrm>
            <a:off x="1546496" y="5385791"/>
            <a:ext cx="9700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Reinforcement Learning is like training a dog. You don’t teach it everything directly- </a:t>
            </a:r>
          </a:p>
          <a:p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instead, You reward good behavior and ignore or punish bad actions. Over time, the learns what actions give it treats That’s the core idea of Reinforcement Learning – learning by trial and error</a:t>
            </a:r>
            <a:endParaRPr lang="en-A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712356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ML Workflow and Handling Missing Values</a:t>
            </a:r>
          </a:p>
        </p:txBody>
      </p:sp>
      <p:sp>
        <p:nvSpPr>
          <p:cNvPr id="7" name="Sp6"/>
          <p:cNvSpPr/>
          <p:nvPr/>
        </p:nvSpPr>
        <p:spPr>
          <a:xfrm>
            <a:off x="67586" y="1197739"/>
            <a:ext cx="11277600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endParaRPr lang="en-US" sz="190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9" name="Box6">
            <a:extLst>
              <a:ext uri="{FF2B5EF4-FFF2-40B4-BE49-F238E27FC236}">
                <a16:creationId xmlns:a16="http://schemas.microsoft.com/office/drawing/2014/main" id="{E62B5712-E7C2-4ECC-9814-F3A512DD3F57}"/>
              </a:ext>
            </a:extLst>
          </p:cNvPr>
          <p:cNvSpPr/>
          <p:nvPr/>
        </p:nvSpPr>
        <p:spPr>
          <a:xfrm>
            <a:off x="27919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1.Problem
Definition</a:t>
            </a:r>
          </a:p>
        </p:txBody>
      </p:sp>
      <p:sp>
        <p:nvSpPr>
          <p:cNvPr id="10" name="Sp7">
            <a:extLst>
              <a:ext uri="{FF2B5EF4-FFF2-40B4-BE49-F238E27FC236}">
                <a16:creationId xmlns:a16="http://schemas.microsoft.com/office/drawing/2014/main" id="{789942ED-7F35-4854-8CB0-98B1A7478528}"/>
              </a:ext>
            </a:extLst>
          </p:cNvPr>
          <p:cNvSpPr/>
          <p:nvPr/>
        </p:nvSpPr>
        <p:spPr>
          <a:xfrm>
            <a:off x="310783" y="1900288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Define task</a:t>
            </a:r>
          </a:p>
        </p:txBody>
      </p:sp>
      <p:sp>
        <p:nvSpPr>
          <p:cNvPr id="11" name="Box8">
            <a:extLst>
              <a:ext uri="{FF2B5EF4-FFF2-40B4-BE49-F238E27FC236}">
                <a16:creationId xmlns:a16="http://schemas.microsoft.com/office/drawing/2014/main" id="{862084D9-6709-44F6-BD43-5102F8A19561}"/>
              </a:ext>
            </a:extLst>
          </p:cNvPr>
          <p:cNvSpPr/>
          <p:nvPr/>
        </p:nvSpPr>
        <p:spPr>
          <a:xfrm>
            <a:off x="169514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1F618D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2.Data
Collection</a:t>
            </a:r>
          </a:p>
        </p:txBody>
      </p:sp>
      <p:sp>
        <p:nvSpPr>
          <p:cNvPr id="12" name="Sp9">
            <a:extLst>
              <a:ext uri="{FF2B5EF4-FFF2-40B4-BE49-F238E27FC236}">
                <a16:creationId xmlns:a16="http://schemas.microsoft.com/office/drawing/2014/main" id="{17914CF2-8BDE-4832-B0BE-298BABF04B89}"/>
              </a:ext>
            </a:extLst>
          </p:cNvPr>
          <p:cNvSpPr/>
          <p:nvPr/>
        </p:nvSpPr>
        <p:spPr>
          <a:xfrm>
            <a:off x="1685353" y="1910506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Gather labelled/</a:t>
            </a:r>
          </a:p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unlabeled data</a:t>
            </a:r>
          </a:p>
        </p:txBody>
      </p:sp>
      <p:sp>
        <p:nvSpPr>
          <p:cNvPr id="13" name="Box10">
            <a:extLst>
              <a:ext uri="{FF2B5EF4-FFF2-40B4-BE49-F238E27FC236}">
                <a16:creationId xmlns:a16="http://schemas.microsoft.com/office/drawing/2014/main" id="{553C8931-6315-418A-9FEE-E31B856A59CC}"/>
              </a:ext>
            </a:extLst>
          </p:cNvPr>
          <p:cNvSpPr/>
          <p:nvPr/>
        </p:nvSpPr>
        <p:spPr>
          <a:xfrm>
            <a:off x="311109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2471A3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3.EDA &amp;
Preprocessing</a:t>
            </a:r>
          </a:p>
        </p:txBody>
      </p:sp>
      <p:sp>
        <p:nvSpPr>
          <p:cNvPr id="14" name="Sp11">
            <a:extLst>
              <a:ext uri="{FF2B5EF4-FFF2-40B4-BE49-F238E27FC236}">
                <a16:creationId xmlns:a16="http://schemas.microsoft.com/office/drawing/2014/main" id="{68042381-0400-48B6-ACF1-B2583B02CFF7}"/>
              </a:ext>
            </a:extLst>
          </p:cNvPr>
          <p:cNvSpPr/>
          <p:nvPr/>
        </p:nvSpPr>
        <p:spPr>
          <a:xfrm>
            <a:off x="3165988" y="1933292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Clean, transform, visualise</a:t>
            </a:r>
          </a:p>
        </p:txBody>
      </p:sp>
      <p:sp>
        <p:nvSpPr>
          <p:cNvPr id="15" name="Box12">
            <a:extLst>
              <a:ext uri="{FF2B5EF4-FFF2-40B4-BE49-F238E27FC236}">
                <a16:creationId xmlns:a16="http://schemas.microsoft.com/office/drawing/2014/main" id="{D45F37AA-9B75-4784-AAAB-67395DC2FFD9}"/>
              </a:ext>
            </a:extLst>
          </p:cNvPr>
          <p:cNvSpPr/>
          <p:nvPr/>
        </p:nvSpPr>
        <p:spPr>
          <a:xfrm>
            <a:off x="452704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2980B9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4.Feature
Engineering</a:t>
            </a:r>
          </a:p>
        </p:txBody>
      </p:sp>
      <p:sp>
        <p:nvSpPr>
          <p:cNvPr id="16" name="Sp13">
            <a:extLst>
              <a:ext uri="{FF2B5EF4-FFF2-40B4-BE49-F238E27FC236}">
                <a16:creationId xmlns:a16="http://schemas.microsoft.com/office/drawing/2014/main" id="{426CD415-B01F-4C3E-BF27-01C984B8E9CC}"/>
              </a:ext>
            </a:extLst>
          </p:cNvPr>
          <p:cNvSpPr/>
          <p:nvPr/>
        </p:nvSpPr>
        <p:spPr>
          <a:xfrm>
            <a:off x="4596399" y="1944533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Create &amp; select features</a:t>
            </a:r>
          </a:p>
        </p:txBody>
      </p:sp>
      <p:sp>
        <p:nvSpPr>
          <p:cNvPr id="17" name="Box14">
            <a:extLst>
              <a:ext uri="{FF2B5EF4-FFF2-40B4-BE49-F238E27FC236}">
                <a16:creationId xmlns:a16="http://schemas.microsoft.com/office/drawing/2014/main" id="{6705A533-C91B-4A82-9C88-419697EB56C4}"/>
              </a:ext>
            </a:extLst>
          </p:cNvPr>
          <p:cNvSpPr/>
          <p:nvPr/>
        </p:nvSpPr>
        <p:spPr>
          <a:xfrm>
            <a:off x="594299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117A65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5.Model
Training</a:t>
            </a:r>
          </a:p>
        </p:txBody>
      </p:sp>
      <p:sp>
        <p:nvSpPr>
          <p:cNvPr id="18" name="Sp15">
            <a:extLst>
              <a:ext uri="{FF2B5EF4-FFF2-40B4-BE49-F238E27FC236}">
                <a16:creationId xmlns:a16="http://schemas.microsoft.com/office/drawing/2014/main" id="{F6A9AD67-22F4-4916-84EA-59B6D666BF71}"/>
              </a:ext>
            </a:extLst>
          </p:cNvPr>
          <p:cNvSpPr/>
          <p:nvPr/>
        </p:nvSpPr>
        <p:spPr>
          <a:xfrm>
            <a:off x="5962349" y="1933292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Fit algorithm to training data</a:t>
            </a:r>
          </a:p>
        </p:txBody>
      </p:sp>
      <p:sp>
        <p:nvSpPr>
          <p:cNvPr id="19" name="Box16">
            <a:extLst>
              <a:ext uri="{FF2B5EF4-FFF2-40B4-BE49-F238E27FC236}">
                <a16:creationId xmlns:a16="http://schemas.microsoft.com/office/drawing/2014/main" id="{9A192B79-CB45-4C1B-BCA3-830B435F3042}"/>
              </a:ext>
            </a:extLst>
          </p:cNvPr>
          <p:cNvSpPr/>
          <p:nvPr/>
        </p:nvSpPr>
        <p:spPr>
          <a:xfrm>
            <a:off x="735894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148F77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6.Evaluation</a:t>
            </a:r>
          </a:p>
        </p:txBody>
      </p:sp>
      <p:sp>
        <p:nvSpPr>
          <p:cNvPr id="20" name="Sp17">
            <a:extLst>
              <a:ext uri="{FF2B5EF4-FFF2-40B4-BE49-F238E27FC236}">
                <a16:creationId xmlns:a16="http://schemas.microsoft.com/office/drawing/2014/main" id="{1B270374-F661-4F17-A743-516B8D454046}"/>
              </a:ext>
            </a:extLst>
          </p:cNvPr>
          <p:cNvSpPr/>
          <p:nvPr/>
        </p:nvSpPr>
        <p:spPr>
          <a:xfrm>
            <a:off x="7386106" y="1921313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Measure performance on test set</a:t>
            </a:r>
          </a:p>
        </p:txBody>
      </p:sp>
      <p:sp>
        <p:nvSpPr>
          <p:cNvPr id="21" name="Box18">
            <a:extLst>
              <a:ext uri="{FF2B5EF4-FFF2-40B4-BE49-F238E27FC236}">
                <a16:creationId xmlns:a16="http://schemas.microsoft.com/office/drawing/2014/main" id="{1210E6BE-00DB-4E6E-A172-6ECC2A0B3781}"/>
              </a:ext>
            </a:extLst>
          </p:cNvPr>
          <p:cNvSpPr/>
          <p:nvPr/>
        </p:nvSpPr>
        <p:spPr>
          <a:xfrm>
            <a:off x="877489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1E8449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7.Tuning</a:t>
            </a:r>
          </a:p>
        </p:txBody>
      </p:sp>
      <p:sp>
        <p:nvSpPr>
          <p:cNvPr id="22" name="Sp19">
            <a:extLst>
              <a:ext uri="{FF2B5EF4-FFF2-40B4-BE49-F238E27FC236}">
                <a16:creationId xmlns:a16="http://schemas.microsoft.com/office/drawing/2014/main" id="{963E83E8-8788-4617-9109-B0A5EAB5F485}"/>
              </a:ext>
            </a:extLst>
          </p:cNvPr>
          <p:cNvSpPr/>
          <p:nvPr/>
        </p:nvSpPr>
        <p:spPr>
          <a:xfrm>
            <a:off x="8817554" y="1944855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Optimise hyperparameters</a:t>
            </a:r>
          </a:p>
        </p:txBody>
      </p:sp>
      <p:sp>
        <p:nvSpPr>
          <p:cNvPr id="23" name="Box20">
            <a:extLst>
              <a:ext uri="{FF2B5EF4-FFF2-40B4-BE49-F238E27FC236}">
                <a16:creationId xmlns:a16="http://schemas.microsoft.com/office/drawing/2014/main" id="{EECB5EF7-30BD-41A4-8AB6-A409CCCEEBA3}"/>
              </a:ext>
            </a:extLst>
          </p:cNvPr>
          <p:cNvSpPr/>
          <p:nvPr/>
        </p:nvSpPr>
        <p:spPr>
          <a:xfrm>
            <a:off x="10190843" y="1010506"/>
            <a:ext cx="1365950" cy="900000"/>
          </a:xfrm>
          <a:prstGeom prst="roundRect">
            <a:avLst>
              <a:gd name="adj" fmla="val 20000"/>
            </a:avLst>
          </a:prstGeom>
          <a:solidFill>
            <a:srgbClr val="239B56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8.Deploy</a:t>
            </a:r>
          </a:p>
        </p:txBody>
      </p:sp>
      <p:sp>
        <p:nvSpPr>
          <p:cNvPr id="24" name="Sp21">
            <a:extLst>
              <a:ext uri="{FF2B5EF4-FFF2-40B4-BE49-F238E27FC236}">
                <a16:creationId xmlns:a16="http://schemas.microsoft.com/office/drawing/2014/main" id="{997A9809-1C34-440A-A0E4-5A495167E516}"/>
              </a:ext>
            </a:extLst>
          </p:cNvPr>
          <p:cNvSpPr/>
          <p:nvPr/>
        </p:nvSpPr>
        <p:spPr>
          <a:xfrm>
            <a:off x="10297152" y="1900288"/>
            <a:ext cx="136595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r>
              <a:rPr lang="en-US" sz="1300" dirty="0">
                <a:solidFill>
                  <a:srgbClr val="363636"/>
                </a:solidFill>
                <a:latin typeface="Calibri" pitchFamily="34" charset="0"/>
              </a:rPr>
              <a:t>Serve model in production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0642-7478-4932-936A-183E85C31925}"/>
              </a:ext>
            </a:extLst>
          </p:cNvPr>
          <p:cNvSpPr/>
          <p:nvPr/>
        </p:nvSpPr>
        <p:spPr>
          <a:xfrm>
            <a:off x="33793" y="2714822"/>
            <a:ext cx="121244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What are Missing Values?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Missing values are empty or unavailable data in a dataset.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0C1C6-0980-4DCB-8216-2D70D773398B}"/>
              </a:ext>
            </a:extLst>
          </p:cNvPr>
          <p:cNvSpPr/>
          <p:nvPr/>
        </p:nvSpPr>
        <p:spPr>
          <a:xfrm>
            <a:off x="310783" y="3441506"/>
            <a:ext cx="34156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 can handle them in two ways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:-</a:t>
            </a:r>
            <a:endParaRPr lang="en-AE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431EE4-337F-4A2D-AB8E-48DF476A1606}"/>
              </a:ext>
            </a:extLst>
          </p:cNvPr>
          <p:cNvSpPr/>
          <p:nvPr/>
        </p:nvSpPr>
        <p:spPr>
          <a:xfrm>
            <a:off x="310783" y="3801406"/>
            <a:ext cx="2188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</a:t>
            </a:r>
            <a:r>
              <a:rPr lang="en-US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Dropna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Method:-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F20EFE-1D0E-4938-BD9F-29DA54EEC11E}"/>
              </a:ext>
            </a:extLst>
          </p:cNvPr>
          <p:cNvSpPr/>
          <p:nvPr/>
        </p:nvSpPr>
        <p:spPr>
          <a:xfrm>
            <a:off x="2378118" y="3804754"/>
            <a:ext cx="97462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Removes rows or columns containing missing values. Used when the amount of missing data is small.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0249FF-6266-49C5-A8C7-C42D19A64B56}"/>
              </a:ext>
            </a:extLst>
          </p:cNvPr>
          <p:cNvSpPr/>
          <p:nvPr/>
        </p:nvSpPr>
        <p:spPr>
          <a:xfrm>
            <a:off x="457200" y="4395613"/>
            <a:ext cx="856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Syntax:</a:t>
            </a:r>
            <a:endParaRPr lang="en-AE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E6A7FD7-7BE9-4D8B-8A04-673B060BA269}"/>
              </a:ext>
            </a:extLst>
          </p:cNvPr>
          <p:cNvSpPr/>
          <p:nvPr/>
        </p:nvSpPr>
        <p:spPr>
          <a:xfrm>
            <a:off x="1394813" y="4433293"/>
            <a:ext cx="10017959" cy="4901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1F2D6B"/>
                </a:solidFill>
                <a:latin typeface="Courier New" pitchFamily="49" charset="0"/>
              </a:rPr>
              <a:t>df.dropna</a:t>
            </a:r>
            <a:r>
              <a:rPr lang="en-US" sz="1400" dirty="0">
                <a:solidFill>
                  <a:srgbClr val="1F2D6B"/>
                </a:solidFill>
                <a:latin typeface="Courier New" pitchFamily="49" charset="0"/>
              </a:rPr>
              <a:t>()                                      # drop any row with </a:t>
            </a:r>
            <a:r>
              <a:rPr lang="en-US" sz="1400" dirty="0" err="1">
                <a:solidFill>
                  <a:srgbClr val="1F2D6B"/>
                </a:solidFill>
                <a:latin typeface="Courier New" pitchFamily="49" charset="0"/>
              </a:rPr>
              <a:t>NaN</a:t>
            </a:r>
            <a:endParaRPr lang="en-US" sz="1400" dirty="0">
              <a:solidFill>
                <a:srgbClr val="1F2D6B"/>
              </a:solidFill>
              <a:latin typeface="Courier New" pitchFamily="49" charset="0"/>
            </a:endParaRPr>
          </a:p>
          <a:p>
            <a:r>
              <a:rPr lang="en-US" sz="1400" dirty="0" err="1">
                <a:solidFill>
                  <a:srgbClr val="1F2D6B"/>
                </a:solidFill>
                <a:latin typeface="Courier New" pitchFamily="49" charset="0"/>
              </a:rPr>
              <a:t>df.dropna</a:t>
            </a:r>
            <a:r>
              <a:rPr lang="en-US" sz="1400" dirty="0">
                <a:solidFill>
                  <a:srgbClr val="1F2D6B"/>
                </a:solidFill>
                <a:latin typeface="Courier New" pitchFamily="49" charset="0"/>
              </a:rPr>
              <a:t>(subset=['col'])                        # only where specific col is </a:t>
            </a:r>
            <a:r>
              <a:rPr lang="en-US" sz="1400" dirty="0" err="1">
                <a:solidFill>
                  <a:srgbClr val="1F2D6B"/>
                </a:solidFill>
                <a:latin typeface="Courier New" pitchFamily="49" charset="0"/>
              </a:rPr>
              <a:t>NaN</a:t>
            </a:r>
            <a:endParaRPr lang="en-AE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0054E4-F2AB-4E71-A7CB-E79D58335B15}"/>
              </a:ext>
            </a:extLst>
          </p:cNvPr>
          <p:cNvSpPr/>
          <p:nvPr/>
        </p:nvSpPr>
        <p:spPr>
          <a:xfrm>
            <a:off x="318252" y="5103366"/>
            <a:ext cx="1990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Fillna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Method:-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A8477D-AD12-4C79-9AC5-5E2B34E96565}"/>
              </a:ext>
            </a:extLst>
          </p:cNvPr>
          <p:cNvSpPr/>
          <p:nvPr/>
        </p:nvSpPr>
        <p:spPr>
          <a:xfrm>
            <a:off x="2162018" y="5085232"/>
            <a:ext cx="9962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Replaces missing values instead of removing them. Helps preserve all rows in the dataset.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99F382-D744-4154-A537-B2DE2E8422AD}"/>
              </a:ext>
            </a:extLst>
          </p:cNvPr>
          <p:cNvSpPr/>
          <p:nvPr/>
        </p:nvSpPr>
        <p:spPr>
          <a:xfrm>
            <a:off x="468213" y="5412637"/>
            <a:ext cx="926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Syntax:-</a:t>
            </a:r>
            <a:endParaRPr lang="en-AE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165D45D-84F2-4742-A54E-7309BD530DA3}"/>
              </a:ext>
            </a:extLst>
          </p:cNvPr>
          <p:cNvSpPr/>
          <p:nvPr/>
        </p:nvSpPr>
        <p:spPr>
          <a:xfrm>
            <a:off x="1444942" y="5507772"/>
            <a:ext cx="1700064" cy="3693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df.fillna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(value)</a:t>
            </a:r>
            <a:endParaRPr lang="en-A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Encoding Categorical Variables, Feature Scaling and EDA</a:t>
            </a:r>
          </a:p>
        </p:txBody>
      </p:sp>
      <p:sp>
        <p:nvSpPr>
          <p:cNvPr id="12" name="Sp6"/>
          <p:cNvSpPr/>
          <p:nvPr/>
        </p:nvSpPr>
        <p:spPr>
          <a:xfrm>
            <a:off x="457200" y="1000000"/>
            <a:ext cx="112776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</p:txBody>
      </p:sp>
      <p:sp>
        <p:nvSpPr>
          <p:cNvPr id="7" name="Sp7"/>
          <p:cNvSpPr/>
          <p:nvPr/>
        </p:nvSpPr>
        <p:spPr>
          <a:xfrm>
            <a:off x="143977" y="979698"/>
            <a:ext cx="11277600" cy="51153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62500" lnSpcReduction="20000"/>
          </a:bodyPr>
          <a:lstStyle/>
          <a:p>
            <a:pPr marL="457200" indent="-4572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Label Encoder(ordinal encoding):-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converts each unique text category onto a unique sequential integer(i.e. 0,1,2). 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9" name="Sp9"/>
          <p:cNvSpPr/>
          <p:nvPr/>
        </p:nvSpPr>
        <p:spPr>
          <a:xfrm>
            <a:off x="147885" y="1446047"/>
            <a:ext cx="11277600" cy="6007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92500" lnSpcReduction="10000"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 One-Hot Encoder(Nominal Encoding):- </a:t>
            </a:r>
            <a:r>
              <a:rPr lang="en-US" sz="17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converts a single categorical column into multiple binary columns(0 or 1),creating a new column for every unique category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11" name="Sp11"/>
          <p:cNvSpPr/>
          <p:nvPr/>
        </p:nvSpPr>
        <p:spPr>
          <a:xfrm>
            <a:off x="457200" y="3530000"/>
            <a:ext cx="11277600" cy="262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E304B1-4BDC-411A-8457-C70DF6D3E829}"/>
              </a:ext>
            </a:extLst>
          </p:cNvPr>
          <p:cNvSpPr txBox="1"/>
          <p:nvPr/>
        </p:nvSpPr>
        <p:spPr>
          <a:xfrm>
            <a:off x="143977" y="2188321"/>
            <a:ext cx="1169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A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05E3-D304-4AE3-8957-00F43C849006}"/>
              </a:ext>
            </a:extLst>
          </p:cNvPr>
          <p:cNvSpPr txBox="1"/>
          <p:nvPr/>
        </p:nvSpPr>
        <p:spPr>
          <a:xfrm rot="10800000" flipH="1" flipV="1">
            <a:off x="143977" y="2682448"/>
            <a:ext cx="113346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Standard Scalar(standardization):-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It is a feature scaling technique that transforms data so that it has a mean of 0 and a standard deviation of 1.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55EFC-791A-4D89-B948-206432815F62}"/>
              </a:ext>
            </a:extLst>
          </p:cNvPr>
          <p:cNvSpPr txBox="1"/>
          <p:nvPr/>
        </p:nvSpPr>
        <p:spPr>
          <a:xfrm>
            <a:off x="143977" y="2007287"/>
            <a:ext cx="1089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Feature Scaling:-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It is the process of converting features into a similar range so that no feature dominates other because of its largest values</a:t>
            </a:r>
            <a:r>
              <a:rPr lang="en-US" dirty="0"/>
              <a:t>.</a:t>
            </a:r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6008C-C803-4B32-9162-7C48A50CF855}"/>
              </a:ext>
            </a:extLst>
          </p:cNvPr>
          <p:cNvSpPr txBox="1"/>
          <p:nvPr/>
        </p:nvSpPr>
        <p:spPr>
          <a:xfrm>
            <a:off x="143977" y="3331897"/>
            <a:ext cx="110196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MinMaxScaler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(Normalization):-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It scales features to specified range typically [0,1], by using the minimum and maximum values of the features.</a:t>
            </a:r>
            <a:endParaRPr lang="en-A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FBACC-DD44-4679-9E51-ACB7EECCC276}"/>
              </a:ext>
            </a:extLst>
          </p:cNvPr>
          <p:cNvSpPr txBox="1"/>
          <p:nvPr/>
        </p:nvSpPr>
        <p:spPr>
          <a:xfrm>
            <a:off x="143977" y="3990664"/>
            <a:ext cx="11019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Exploratory Data Analysis:-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data visually before building any model.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                     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798DE-6315-4B61-A5FA-EBAEF5F732B4}"/>
              </a:ext>
            </a:extLst>
          </p:cNvPr>
          <p:cNvSpPr/>
          <p:nvPr/>
        </p:nvSpPr>
        <p:spPr>
          <a:xfrm>
            <a:off x="2864534" y="4362923"/>
            <a:ext cx="58738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</a:t>
            </a:r>
            <a:r>
              <a:rPr lang="en-US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Shows the distribution of Numerical values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40DD4E-F999-4C3C-9B7B-913633844368}"/>
              </a:ext>
            </a:extLst>
          </p:cNvPr>
          <p:cNvSpPr/>
          <p:nvPr/>
        </p:nvSpPr>
        <p:spPr>
          <a:xfrm>
            <a:off x="1961561" y="5072293"/>
            <a:ext cx="6832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0150" lvl="2" indent="-285750"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bar plots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count of categorical values.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498B00-1ED8-421C-A53E-B75E2D70B258}"/>
              </a:ext>
            </a:extLst>
          </p:cNvPr>
          <p:cNvSpPr/>
          <p:nvPr/>
        </p:nvSpPr>
        <p:spPr>
          <a:xfrm>
            <a:off x="2864534" y="4737257"/>
            <a:ext cx="5797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dirty="0">
                <a:solidFill>
                  <a:srgbClr val="4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2 numeric features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" name="SlideTitle"/>
          <p:cNvSpPr/>
          <p:nvPr/>
        </p:nvSpPr>
        <p:spPr>
          <a:xfrm>
            <a:off x="91440" y="10131"/>
            <a:ext cx="1170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Linear Regression And Logistic Regression</a:t>
            </a:r>
          </a:p>
        </p:txBody>
      </p:sp>
      <p:sp>
        <p:nvSpPr>
          <p:cNvPr id="8" name="Sp6"/>
          <p:cNvSpPr/>
          <p:nvPr/>
        </p:nvSpPr>
        <p:spPr>
          <a:xfrm>
            <a:off x="396240" y="2783323"/>
            <a:ext cx="11097058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Metrics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RMSE(Root Mean Squared Error) =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√MSE (RMSE is the square root of MSE)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MSE(Mean Squared Error):-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MSE measures the average of squared differences between actual and predicted values.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R² score:-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tells how well the model explains the data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Accuracy:-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Percentage of correct predictions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</a:rPr>
              <a:t>Confusion Matrix:-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A92D7-7865-4445-AD60-055A71FB2EE4}"/>
              </a:ext>
            </a:extLst>
          </p:cNvPr>
          <p:cNvSpPr txBox="1"/>
          <p:nvPr/>
        </p:nvSpPr>
        <p:spPr>
          <a:xfrm>
            <a:off x="396240" y="881904"/>
            <a:ext cx="11490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 is supervised machine learning algorithms used to predict a continuous value by finding the best-fit line between input features and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Cost Function:-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 cost function measures how much error exists between the predicted values and the actual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Gradient Descent:-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Gradient descent is an optimized algorithm used to minimize the cost function by updating the model parameters.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Logistic Regression:-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Logistic Regression is a supervised machine learning algorithm used for binary classification, where the output has only two class: 1-Yes and 0-No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                                                      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D27E68-5DE3-4BF7-9B56-DEB842C4847B}"/>
              </a:ext>
            </a:extLst>
          </p:cNvPr>
          <p:cNvSpPr/>
          <p:nvPr/>
        </p:nvSpPr>
        <p:spPr>
          <a:xfrm>
            <a:off x="2527486" y="4283736"/>
            <a:ext cx="9106489" cy="146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●"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</a:rPr>
              <a:t>TP(True Positive): Predicted positive, actually positive</a:t>
            </a:r>
          </a:p>
          <a:p>
            <a:pPr marL="342900" indent="-342900">
              <a:buFont typeface="Arial"/>
              <a:buChar char="●"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</a:rPr>
              <a:t>TN(True Negative): Predicted negative, actually negative</a:t>
            </a:r>
          </a:p>
          <a:p>
            <a:pPr marL="342900" indent="-342900">
              <a:buFont typeface="Arial"/>
              <a:buChar char="●"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</a:rPr>
              <a:t>FP(False Positive):Type I error — predicted +, actually −</a:t>
            </a:r>
          </a:p>
          <a:p>
            <a:pPr marL="342900" indent="-342900">
              <a:buFont typeface="Arial"/>
              <a:buChar char="●"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</a:rPr>
              <a:t>FN(False Negative): Type II error — predicted −, actually +</a:t>
            </a:r>
          </a:p>
          <a:p>
            <a:pPr>
              <a:spcBef>
                <a:spcPts val="400"/>
              </a:spcBef>
            </a:pPr>
            <a:endParaRPr lang="en-US" sz="1600" b="1" dirty="0">
              <a:solidFill>
                <a:srgbClr val="002060"/>
              </a:solidFill>
              <a:latin typeface="Calibri" pitchFamily="34" charset="0"/>
            </a:endParaRPr>
          </a:p>
          <a:p>
            <a:endParaRPr lang="en-US" sz="1400" dirty="0">
              <a:solidFill>
                <a:srgbClr val="1F3864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Decision Trees, Random Forest</a:t>
            </a:r>
          </a:p>
        </p:txBody>
      </p:sp>
      <p:sp>
        <p:nvSpPr>
          <p:cNvPr id="8" name="Sp6"/>
          <p:cNvSpPr/>
          <p:nvPr/>
        </p:nvSpPr>
        <p:spPr>
          <a:xfrm>
            <a:off x="457200" y="1000000"/>
            <a:ext cx="11338560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predicts the output by asking a series of questions about the input features</a:t>
            </a: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rgbClr val="1F3864"/>
                </a:solidFill>
                <a:latin typeface="Calibri" pitchFamily="34" charset="0"/>
              </a:rPr>
              <a:t>Gini Impurity: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measures how mixed the classes are in a dataset. </a:t>
            </a: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rgbClr val="1F3864"/>
                </a:solidFill>
                <a:latin typeface="Calibri" pitchFamily="34" charset="0"/>
              </a:rPr>
              <a:t>Entropy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: If measures the amount of </a:t>
            </a:r>
            <a:r>
              <a:rPr lang="en-US" sz="165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uncertainity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or disorder in the data.</a:t>
            </a: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Info Gain 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=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measures how much </a:t>
            </a:r>
            <a:r>
              <a:rPr lang="en-US" sz="165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uncertainity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is reduced after splitting the data.</a:t>
            </a:r>
          </a:p>
          <a:p>
            <a:pPr marL="342900" indent="-342900">
              <a:buFont typeface="Arial"/>
              <a:buChar char="●"/>
            </a:pPr>
            <a:endParaRPr lang="en-US" sz="165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  <a:p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Overfitting:-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Overfitting happens when a ML model memorize the training data instead of learning general patterns. To prevent overfitting, tree pruning method is used. </a:t>
            </a:r>
          </a:p>
          <a:p>
            <a:endParaRPr lang="en-US" b="1" dirty="0">
              <a:solidFill>
                <a:srgbClr val="1F3864"/>
              </a:solidFill>
              <a:latin typeface="Calibri" pitchFamily="34" charset="0"/>
            </a:endParaRPr>
          </a:p>
          <a:p>
            <a:r>
              <a:rPr lang="en-US" b="1" dirty="0">
                <a:solidFill>
                  <a:srgbClr val="1F3864"/>
                </a:solidFill>
                <a:latin typeface="Calibri" pitchFamily="34" charset="0"/>
              </a:rPr>
              <a:t>Pruning:-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Pruning means cutting unnecessary branches from a decision tree to make it simples.</a:t>
            </a:r>
          </a:p>
          <a:p>
            <a:endParaRPr lang="en-US" sz="165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Max_depth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is a parameter that limits how deep a decision tree can grow. It specifies the maximum number of levels allowed in a decision tree.</a:t>
            </a:r>
          </a:p>
          <a:p>
            <a:endParaRPr lang="en-US" sz="165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  <a:p>
            <a:r>
              <a:rPr lang="en-US" sz="16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Random Forest:-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 Random Forest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is a machine learning algorithm that combines the predictions of multiple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decision trees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to create a more accurate and stable final answer</a:t>
            </a:r>
            <a:r>
              <a:rPr lang="en-US" sz="1600" dirty="0"/>
              <a:t>.</a:t>
            </a:r>
            <a:endParaRPr lang="en-US" sz="165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SVM: Hyperplane, Margin &amp; Kernel Trick</a:t>
            </a:r>
          </a:p>
        </p:txBody>
      </p:sp>
      <p:sp>
        <p:nvSpPr>
          <p:cNvPr id="8" name="Sp6"/>
          <p:cNvSpPr/>
          <p:nvPr/>
        </p:nvSpPr>
        <p:spPr>
          <a:xfrm>
            <a:off x="457199" y="1000000"/>
            <a:ext cx="11445631" cy="52928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Support Vector Machine:-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finds the best boundary(hyperplane) that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seperates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different classes/categories.</a:t>
            </a:r>
          </a:p>
          <a:p>
            <a:pPr>
              <a:spcBef>
                <a:spcPts val="400"/>
              </a:spcBef>
            </a:pPr>
            <a:endParaRPr lang="en-US" sz="1650" dirty="0">
              <a:solidFill>
                <a:srgbClr val="1F3864"/>
              </a:solidFill>
              <a:latin typeface="Calibri" pitchFamily="34" charset="0"/>
            </a:endParaRP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Hyperplane:- 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A hyperplane is the decision boundary that </a:t>
            </a:r>
            <a:r>
              <a:rPr lang="en-US" sz="1650" dirty="0" err="1">
                <a:solidFill>
                  <a:srgbClr val="1F3864"/>
                </a:solidFill>
                <a:latin typeface="Calibri" pitchFamily="34" charset="0"/>
              </a:rPr>
              <a:t>seperates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 different classes.</a:t>
            </a: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Margin:- 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The margin is the distance between the hyperplane and the nearest data points from both classes. </a:t>
            </a:r>
          </a:p>
          <a:p>
            <a:pPr marL="342900" indent="-342900">
              <a:buFont typeface="Arial"/>
              <a:buChar char="●"/>
            </a:pPr>
            <a:r>
              <a:rPr lang="en-US" sz="165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Support Vectors:- </a:t>
            </a: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Support vectors are the data points closest to the hyperplane. </a:t>
            </a: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Kernel Trick:-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is technique used in SVM to transform non-linearly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seperable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data into a higher –dimensional space, allowing it to be separately by a hyperplane without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explicity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computing the transformation.</a:t>
            </a:r>
          </a:p>
        </p:txBody>
      </p:sp>
      <p:pic>
        <p:nvPicPr>
          <p:cNvPr id="1026" name="Picture 2" descr="Support Vector Machine : Beginners Guide - Analytics Vidhya">
            <a:extLst>
              <a:ext uri="{FF2B5EF4-FFF2-40B4-BE49-F238E27FC236}">
                <a16:creationId xmlns:a16="http://schemas.microsoft.com/office/drawing/2014/main" id="{3035CB57-AA49-4D39-A011-2A2579EF5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" r="2037"/>
          <a:stretch/>
        </p:blipFill>
        <p:spPr bwMode="auto">
          <a:xfrm>
            <a:off x="2586892" y="2461845"/>
            <a:ext cx="3509108" cy="1609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1028" name="Picture 4" descr="What is Kernel Trick in SVM ? Interview questions related to Kernel Trick |  by Suraj Yadav | Medium">
            <a:extLst>
              <a:ext uri="{FF2B5EF4-FFF2-40B4-BE49-F238E27FC236}">
                <a16:creationId xmlns:a16="http://schemas.microsoft.com/office/drawing/2014/main" id="{42636B03-F61A-4381-8FE6-DE2D61AF5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692" y="5094186"/>
            <a:ext cx="3798277" cy="15161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KNN And Cross Validation</a:t>
            </a:r>
          </a:p>
        </p:txBody>
      </p:sp>
      <p:sp>
        <p:nvSpPr>
          <p:cNvPr id="8" name="Sp6"/>
          <p:cNvSpPr/>
          <p:nvPr/>
        </p:nvSpPr>
        <p:spPr>
          <a:xfrm>
            <a:off x="457199" y="1000000"/>
            <a:ext cx="11547231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K-Nearest Neighbors :-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a supervised ML algorithm used to predicts the class of a new data point based on the K-nearest(closest) data points.</a:t>
            </a:r>
          </a:p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Distance Metrics:- </a:t>
            </a:r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A distance metric is a formula used to measure how close two points are:</a:t>
            </a:r>
          </a:p>
          <a:p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1. Euclidean distance:-It is the straight line distance between two points.</a:t>
            </a:r>
          </a:p>
          <a:p>
            <a:r>
              <a:rPr lang="en-US" sz="16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              d = √Σ(xᵢ−yᵢ)</a:t>
            </a:r>
          </a:p>
          <a:p>
            <a:endParaRPr lang="en-US" sz="1650" dirty="0">
              <a:solidFill>
                <a:srgbClr val="1F3864"/>
              </a:solidFill>
              <a:latin typeface="Calibri" pitchFamily="34" charset="0"/>
            </a:endParaRPr>
          </a:p>
        </p:txBody>
      </p:sp>
      <p:sp>
        <p:nvSpPr>
          <p:cNvPr id="9" name="AutoShape 2" descr="Nearest Neighbors for Classification - KDnuggets">
            <a:extLst>
              <a:ext uri="{FF2B5EF4-FFF2-40B4-BE49-F238E27FC236}">
                <a16:creationId xmlns:a16="http://schemas.microsoft.com/office/drawing/2014/main" id="{DCFA1899-5A78-4FF4-A299-0B35C4977C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10" name="AutoShape 4" descr="Nearest Neighbors for Classification - KDnuggets">
            <a:extLst>
              <a:ext uri="{FF2B5EF4-FFF2-40B4-BE49-F238E27FC236}">
                <a16:creationId xmlns:a16="http://schemas.microsoft.com/office/drawing/2014/main" id="{46BB14BF-FB55-4183-876A-7924E45C49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sp>
        <p:nvSpPr>
          <p:cNvPr id="12" name="AutoShape 8" descr="Nearest Neighbors for Classification - KDnuggets">
            <a:extLst>
              <a:ext uri="{FF2B5EF4-FFF2-40B4-BE49-F238E27FC236}">
                <a16:creationId xmlns:a16="http://schemas.microsoft.com/office/drawing/2014/main" id="{F1F82D3A-1111-4B85-9792-07AA9836BC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4108" name="Picture 12" descr="Introduction to k-Nearest Neighbors (kNN) Algorithm | by Rajvi Shah |  Artificial Intelligence in Plain English">
            <a:extLst>
              <a:ext uri="{FF2B5EF4-FFF2-40B4-BE49-F238E27FC236}">
                <a16:creationId xmlns:a16="http://schemas.microsoft.com/office/drawing/2014/main" id="{DDF4FF0F-4E91-42B7-B6FB-9E8384440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414" y="1369442"/>
            <a:ext cx="2677545" cy="15457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EBDDF6D-EE04-4859-92F8-B2AB804F4F32}"/>
              </a:ext>
            </a:extLst>
          </p:cNvPr>
          <p:cNvSpPr/>
          <p:nvPr/>
        </p:nvSpPr>
        <p:spPr>
          <a:xfrm>
            <a:off x="457199" y="2904381"/>
            <a:ext cx="1143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Cross Validation: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Cross-validation is a technique used to evaluate how well a machine learning model will generalize to new, unseen data. Instead of relying on a single train-test split, cross-validation systematically tests the model on multiple different subsets of the data and averages the results.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K-Fold Cross Validation:- </a:t>
            </a:r>
          </a:p>
        </p:txBody>
      </p:sp>
      <p:pic>
        <p:nvPicPr>
          <p:cNvPr id="17" name="Picture 2" descr="Different Types of Cross-Validations in Machine Learning - Analytics Vidhya">
            <a:extLst>
              <a:ext uri="{FF2B5EF4-FFF2-40B4-BE49-F238E27FC236}">
                <a16:creationId xmlns:a16="http://schemas.microsoft.com/office/drawing/2014/main" id="{A697FDA1-94D5-47C3-B398-96F7C2EF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87" y="3867398"/>
            <a:ext cx="6156225" cy="2716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02060"/>
                </a:solidFill>
                <a:latin typeface="Calibri" pitchFamily="34" charset="0"/>
              </a:rPr>
              <a:t>K-Means Clustering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CEB07-0673-42B2-9118-EF46EBCA48B2}"/>
              </a:ext>
            </a:extLst>
          </p:cNvPr>
          <p:cNvSpPr txBox="1"/>
          <p:nvPr/>
        </p:nvSpPr>
        <p:spPr>
          <a:xfrm>
            <a:off x="396240" y="918957"/>
            <a:ext cx="11338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K-Means is an unsupervised machine learning algorithm that groups similar data points into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 clusters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based on their similarity. To decide the value of K we use elbow method: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Elbow Method:- </a:t>
            </a:r>
            <a:endParaRPr lang="en-US" dirty="0"/>
          </a:p>
          <a:p>
            <a:endParaRPr lang="en-A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9F65A6-A887-4081-8813-E4F6A903D73C}"/>
              </a:ext>
            </a:extLst>
          </p:cNvPr>
          <p:cNvSpPr/>
          <p:nvPr/>
        </p:nvSpPr>
        <p:spPr>
          <a:xfrm>
            <a:off x="6383606" y="1506489"/>
            <a:ext cx="4908062" cy="15922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C5EF9-D867-4E2D-BCBC-07203CB25810}"/>
              </a:ext>
            </a:extLst>
          </p:cNvPr>
          <p:cNvSpPr txBox="1"/>
          <p:nvPr/>
        </p:nvSpPr>
        <p:spPr>
          <a:xfrm>
            <a:off x="6407834" y="1568851"/>
            <a:ext cx="5025292" cy="179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Centroids:-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 centroid is the center point of a cluster. It is calculated as the average of all data points in that cluster.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Inertia:-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Inertia is the sum of the squared distances between each data point and its nearest centroid.</a:t>
            </a:r>
          </a:p>
          <a:p>
            <a:endParaRPr lang="en-A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24A831-A550-4875-93C1-079F34A35A9F}"/>
              </a:ext>
            </a:extLst>
          </p:cNvPr>
          <p:cNvSpPr txBox="1"/>
          <p:nvPr/>
        </p:nvSpPr>
        <p:spPr>
          <a:xfrm>
            <a:off x="192258" y="4406786"/>
            <a:ext cx="112408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DBSCAN(Density-Based Spatial Clustering of Applications with Noise):-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DBSCAN is a machine learning algorithm that groups data points based on density. It has no need to guess K.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PCA(Principal Component Analysis):-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PCA is a widely used unsupervised dimensionality reduction technique.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Principle Components:-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PC1(Principal Components 1):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best possible angle captures the most variation in the data.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PC2(Principal Components 2):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second-best angle, completely independent of PC1.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EC3E97-A0AB-4CEE-9F01-1A3E12BB60A2}"/>
              </a:ext>
            </a:extLst>
          </p:cNvPr>
          <p:cNvSpPr/>
          <p:nvPr/>
        </p:nvSpPr>
        <p:spPr>
          <a:xfrm>
            <a:off x="6468007" y="3249955"/>
            <a:ext cx="5025291" cy="6813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WCSS- Within cluster sum of squared distance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30" name="Picture 6" descr="Image of a graph lightbox">
            <a:extLst>
              <a:ext uri="{FF2B5EF4-FFF2-40B4-BE49-F238E27FC236}">
                <a16:creationId xmlns:a16="http://schemas.microsoft.com/office/drawing/2014/main" id="{E48B4DB3-CD3B-4AE1-8F6A-768CC286E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21" y="1866992"/>
            <a:ext cx="4029859" cy="22164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43012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GridSearchCV &amp; RandomizedSearchCV</a:t>
            </a:r>
          </a:p>
        </p:txBody>
      </p:sp>
      <p:sp>
        <p:nvSpPr>
          <p:cNvPr id="11" name="Sp6"/>
          <p:cNvSpPr/>
          <p:nvPr/>
        </p:nvSpPr>
        <p:spPr>
          <a:xfrm>
            <a:off x="457200" y="999999"/>
            <a:ext cx="11277600" cy="9143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92500" lnSpcReduction="10000"/>
          </a:bodyPr>
          <a:lstStyle/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900" b="1" dirty="0" err="1">
                <a:solidFill>
                  <a:srgbClr val="002060"/>
                </a:solidFill>
                <a:latin typeface="Calibri" pitchFamily="34" charset="0"/>
              </a:rPr>
              <a:t>GridSearchCV</a:t>
            </a: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You give the computer a “Grid”(a list of all the knob settings you want to try). The computer will exhaustively try every single possible combination using cross-validation, and tell you which combination had the best score.</a:t>
            </a: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</p:txBody>
      </p:sp>
      <p:sp>
        <p:nvSpPr>
          <p:cNvPr id="8" name="Sp8"/>
          <p:cNvSpPr/>
          <p:nvPr/>
        </p:nvSpPr>
        <p:spPr>
          <a:xfrm>
            <a:off x="457200" y="1914398"/>
            <a:ext cx="11277600" cy="7713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900" b="1" dirty="0" err="1">
                <a:solidFill>
                  <a:srgbClr val="002060"/>
                </a:solidFill>
                <a:latin typeface="Calibri" pitchFamily="34" charset="0"/>
              </a:rPr>
              <a:t>RandomizedSearchCV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:- Instead of trying every combination, you give it the same lists, but tell it: “Just Pick random combinations and try them , and stop after 50 tries.”</a:t>
            </a:r>
          </a:p>
        </p:txBody>
      </p:sp>
      <p:sp>
        <p:nvSpPr>
          <p:cNvPr id="10" name="Sp10"/>
          <p:cNvSpPr/>
          <p:nvPr/>
        </p:nvSpPr>
        <p:spPr>
          <a:xfrm>
            <a:off x="457200" y="4593472"/>
            <a:ext cx="11277600" cy="11165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 sz="1650" dirty="0">
              <a:solidFill>
                <a:srgbClr val="1F3864"/>
              </a:solidFill>
              <a:latin typeface="Calibri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13BCE-0946-4CE3-BCCE-C1DBA82C3715}"/>
              </a:ext>
            </a:extLst>
          </p:cNvPr>
          <p:cNvSpPr txBox="1"/>
          <p:nvPr/>
        </p:nvSpPr>
        <p:spPr>
          <a:xfrm>
            <a:off x="586152" y="3018185"/>
            <a:ext cx="114886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●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Accuracy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 = (TP+TN)/(TP+TN+FP+FN) —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Percentage of correct predictions.</a:t>
            </a:r>
          </a:p>
          <a:p>
            <a:pPr marL="342900" indent="-342900">
              <a:buFont typeface="Arial"/>
              <a:buChar char="●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Precision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 = TP/(TP+FP) —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Out of all positive values, how many of them are actual true positive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buFont typeface="Arial"/>
              <a:buChar char="●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Recall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 = TP/(TP+FN) —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Out of all actual true positive, how many have been predicted correctly 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.</a:t>
            </a:r>
          </a:p>
          <a:p>
            <a:pPr marL="342900" indent="-342900">
              <a:buFont typeface="Arial"/>
              <a:buChar char="●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F1-Score 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= 2·P·R/(P+R) —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Balance between correct and incorrect predictions</a:t>
            </a:r>
            <a:r>
              <a:rPr lang="en-US" dirty="0">
                <a:solidFill>
                  <a:srgbClr val="1F3864"/>
                </a:solidFill>
                <a:latin typeface="Calibri" pitchFamily="34" charset="0"/>
              </a:rPr>
              <a:t>.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is the Harmonic mean of precision and recall.</a:t>
            </a:r>
          </a:p>
          <a:p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655B1-2968-4EB1-AA21-2A36FE9C2E83}"/>
              </a:ext>
            </a:extLst>
          </p:cNvPr>
          <p:cNvSpPr txBox="1"/>
          <p:nvPr/>
        </p:nvSpPr>
        <p:spPr>
          <a:xfrm>
            <a:off x="586152" y="2661473"/>
            <a:ext cx="243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Metrices:-</a:t>
            </a:r>
            <a:endParaRPr lang="en-AE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18B10-BA91-458B-A619-854FF29C44C2}"/>
              </a:ext>
            </a:extLst>
          </p:cNvPr>
          <p:cNvSpPr txBox="1"/>
          <p:nvPr/>
        </p:nvSpPr>
        <p:spPr>
          <a:xfrm>
            <a:off x="586152" y="4490004"/>
            <a:ext cx="10292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ROC Curve: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Stands for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Receiver Operating Characteristic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It plots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True Positive Rate (TPR)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against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False Positive Rate (FPR)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at varying threshold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AUC Score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Stands for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Area Under the Curve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It quantifies the entire two-dimensional area underneath the entire ROC curve, ranging from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0.0 to 1.0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95831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Feature Selection: SelectKBest, RFE &amp; Correlation</a:t>
            </a:r>
          </a:p>
        </p:txBody>
      </p:sp>
      <p:sp>
        <p:nvSpPr>
          <p:cNvPr id="8" name="Sp6"/>
          <p:cNvSpPr/>
          <p:nvPr/>
        </p:nvSpPr>
        <p:spPr>
          <a:xfrm>
            <a:off x="457200" y="1000000"/>
            <a:ext cx="11338560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 Feature Selection:-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It is the process of choosing only the most relevant features to train your model.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Correlation:-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Correlation measures how strongly two variables are related. It ranges from 1 to -1.</a:t>
            </a:r>
          </a:p>
          <a:p>
            <a:pPr>
              <a:spcBef>
                <a:spcPts val="400"/>
              </a:spcBef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  r=1: perfect positive correlation( both go up together).</a:t>
            </a:r>
          </a:p>
          <a:p>
            <a:pPr>
              <a:spcBef>
                <a:spcPts val="400"/>
              </a:spcBef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  r=-1: perfect negative correlation( one goes up, the other goes down).</a:t>
            </a:r>
          </a:p>
          <a:p>
            <a:pPr>
              <a:spcBef>
                <a:spcPts val="400"/>
              </a:spcBef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  r=0: No linear relationship at all.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SelectKBest</a:t>
            </a: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This is an automated tool that scores all your features against the target and simply keeps the “K” best ones. If you say K=5, it keeps the top 5 highest-scoring features.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RFE(Recursive Feature Elimination):- 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Instead of testing features one by one, it tests them all together inside a model, finds the weakest link, kicks it out, and repeats the process until only the best features are left.</a:t>
            </a:r>
          </a:p>
          <a:p>
            <a:pPr marL="342900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Creating New Features:-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We have to mathematically combine them to create new features that help the model see the hidden patterns.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Polynomial Features:-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Polynomial features create curves by squaring or cubing your existing features.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 Features</a:t>
            </a:r>
            <a:r>
              <a:rPr lang="en-US" sz="1900" b="1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Multiplying or combining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two completely different columns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together.</a:t>
            </a:r>
            <a:endParaRPr lang="en-US" sz="1900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002060"/>
                </a:solidFill>
                <a:latin typeface="Calibri" pitchFamily="34" charset="0"/>
              </a:rPr>
              <a:t>Introduction to NLP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B0671-EF64-4FF9-B7BF-DE9D953C17C9}"/>
              </a:ext>
            </a:extLst>
          </p:cNvPr>
          <p:cNvSpPr txBox="1"/>
          <p:nvPr/>
        </p:nvSpPr>
        <p:spPr>
          <a:xfrm>
            <a:off x="222738" y="1051643"/>
            <a:ext cx="11746523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NLP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stands for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Natural Language Processing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It is a subfield of artificial intelligence (AI) that gives computers the ability to understand, interpret, and manipulate human language (like English, Hindi, or Spanish) just like humans 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Tokenization:-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 is the process of breaking down a large paragraph of text into smaller, individual pieces called tokens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Raw Text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:-”I Love Machine learning”</a:t>
            </a:r>
          </a:p>
          <a:p>
            <a:r>
              <a:rPr lang="en-US" dirty="0"/>
              <a:t>Tokens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:- [“I” , “Love” , “Machine” , “Learning”]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Stopwords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Removal:-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There are words that appear very frequently but carry almost no actual meaning. These are called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stopwords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Removing them helps the computer focus on the important words.</a:t>
            </a:r>
          </a:p>
          <a:p>
            <a:r>
              <a:rPr lang="en-US" dirty="0"/>
              <a:t>               Before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[“The” , “Movie” ,“is” ,“good” ]</a:t>
            </a:r>
          </a:p>
          <a:p>
            <a:r>
              <a:rPr lang="en-US" dirty="0"/>
              <a:t>               After: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[ “Movie” ,“good”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Stemming:-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Reducing words to their base or root form (e.g., "running", "ran", and "runs" all get shortened to "run").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Bag of Words:-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It completely ignores grammar and word order: it only cares about frequency.</a:t>
            </a:r>
          </a:p>
          <a:p>
            <a:r>
              <a:rPr lang="en-US" dirty="0"/>
              <a:t>                 Sentence1: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“Love machine learning”</a:t>
            </a:r>
          </a:p>
          <a:p>
            <a:r>
              <a:rPr lang="en-US" dirty="0"/>
              <a:t>                 Sentence2: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“love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love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coding”</a:t>
            </a:r>
          </a:p>
          <a:p>
            <a:r>
              <a:rPr lang="en-US" dirty="0"/>
              <a:t>                 Sentence1 Vector: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[1, 1, 1, 0](1 ‘love’, 1’machine’, 1 ‘learning’,0 ‘coding’)</a:t>
            </a:r>
          </a:p>
          <a:p>
            <a:r>
              <a:rPr lang="en-US" dirty="0"/>
              <a:t>                  Sentence1 Vector: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[2, 0, 0, 1](1 ‘love’, 1’machine’, 1 ‘learning’,0 ‘coding’)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TF-IDF(Term Frequency-Inverse Document Frequency):-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         Term Frequency:-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Measures how often a word appears in a single document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         Inverse Document Frequency:-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Measures how common or rare a word is across the entire collection of documents 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AE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65B643-161E-45BB-AB5C-D8FB96E0E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51753"/>
            <a:ext cx="2244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791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1"/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BlueRule1"/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endParaRPr lang="en-US" sz="1200"/>
          </a:p>
        </p:txBody>
      </p:sp>
      <p:pic>
        <p:nvPicPr>
          <p:cNvPr id="4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BlueRule2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rtlCol="0" anchor="ctr"/>
          <a:lstStyle/>
          <a:p>
            <a:pPr algn="r"/>
            <a:r>
              <a:rPr lang="en-US" sz="12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" name="SlideTitle"/>
          <p:cNvSpPr/>
          <p:nvPr/>
        </p:nvSpPr>
        <p:spPr>
          <a:xfrm>
            <a:off x="45720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</a:rPr>
              <a:t>References &amp; Further Reading</a:t>
            </a:r>
          </a:p>
        </p:txBody>
      </p:sp>
      <p:sp>
        <p:nvSpPr>
          <p:cNvPr id="7" name="Sp6"/>
          <p:cNvSpPr/>
          <p:nvPr/>
        </p:nvSpPr>
        <p:spPr>
          <a:xfrm>
            <a:off x="457200" y="1000000"/>
            <a:ext cx="11277600" cy="5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400"/>
              </a:spcBef>
            </a:pPr>
            <a:r>
              <a:rPr lang="en-US" sz="1900" b="1" dirty="0">
                <a:solidFill>
                  <a:srgbClr val="002060"/>
                </a:solidFill>
                <a:latin typeface="Calibri" pitchFamily="34" charset="0"/>
              </a:rPr>
              <a:t>Core Textbooks</a:t>
            </a:r>
          </a:p>
          <a:p>
            <a:pPr marL="342900" indent="-342900">
              <a:buFont typeface="Arial"/>
              <a:buChar char="●"/>
            </a:pPr>
            <a:r>
              <a:rPr lang="en-US" sz="1650" dirty="0">
                <a:solidFill>
                  <a:srgbClr val="1F3864"/>
                </a:solidFill>
                <a:latin typeface="Calibri" pitchFamily="34" charset="0"/>
              </a:rPr>
              <a:t>Géron, A. (2022). Hands-On Machine Learning with Scikit-Learn, Keras &amp; TensorFlow (3rd ed.). O'Reilly Media.</a:t>
            </a:r>
            <a:endParaRPr lang="en-US" sz="1900" b="1" dirty="0">
              <a:solidFill>
                <a:srgbClr val="002060"/>
              </a:solidFill>
              <a:latin typeface="Calibri" pitchFamily="34" charset="0"/>
            </a:endParaRPr>
          </a:p>
          <a:p>
            <a:pPr marL="342900" indent="-342900">
              <a:buFont typeface="Arial"/>
              <a:buChar char="●"/>
            </a:pPr>
            <a:r>
              <a:rPr lang="en-US" sz="1600" dirty="0"/>
              <a:t>Google ML Crash Course — </a:t>
            </a:r>
            <a:r>
              <a:rPr lang="en-US" sz="1600" dirty="0">
                <a:hlinkClick r:id="rId4"/>
              </a:rPr>
              <a:t>Machine Learning  |  Google for Developers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  <a:p>
            <a:pPr marL="342900" indent="-342900">
              <a:buFont typeface="Arial"/>
              <a:buChar char="●"/>
            </a:pPr>
            <a:r>
              <a:rPr lang="en-US" sz="1600" dirty="0" err="1"/>
              <a:t>Scikit</a:t>
            </a:r>
            <a:r>
              <a:rPr lang="en-US" sz="1600" dirty="0"/>
              <a:t>-learn Getting Started — </a:t>
            </a:r>
            <a:r>
              <a:rPr lang="en-US" sz="1600" dirty="0">
                <a:hlinkClick r:id="rId5"/>
              </a:rPr>
              <a:t>Getting Started — </a:t>
            </a:r>
            <a:r>
              <a:rPr lang="en-US" sz="1600" dirty="0" err="1">
                <a:hlinkClick r:id="rId5"/>
              </a:rPr>
              <a:t>scikit</a:t>
            </a:r>
            <a:r>
              <a:rPr lang="en-US" sz="1600" dirty="0">
                <a:hlinkClick r:id="rId5"/>
              </a:rPr>
              <a:t>-learn 1.9.0 documentation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/>
              <a:buChar char="●"/>
            </a:pPr>
            <a:r>
              <a:rPr lang="en-US" sz="1600" dirty="0"/>
              <a:t>Kaggle Datasets —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hlinkClick r:id="rId6"/>
              </a:rPr>
              <a:t>https://www.kaggle.com/datasets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Arial"/>
              <a:buChar char="●"/>
            </a:pPr>
            <a:r>
              <a:rPr lang="en-US" sz="1600" dirty="0"/>
              <a:t>Kaggle –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Natural Language Processing with Disaster Tweets | Kaggle</a:t>
            </a:r>
            <a:endParaRPr lang="en-US" sz="165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2259</Words>
  <Application>Microsoft Office PowerPoint</Application>
  <PresentationFormat>Widescreen</PresentationFormat>
  <Paragraphs>196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104</cp:revision>
  <dcterms:created xsi:type="dcterms:W3CDTF">2026-05-21T06:29:53Z</dcterms:created>
  <dcterms:modified xsi:type="dcterms:W3CDTF">2026-07-02T05:10:34Z</dcterms:modified>
</cp:coreProperties>
</file>