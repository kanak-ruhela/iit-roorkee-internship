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331" r:id="rId2"/>
    <p:sldId id="324" r:id="rId3"/>
    <p:sldId id="325" r:id="rId4"/>
    <p:sldId id="326" r:id="rId5"/>
    <p:sldId id="327" r:id="rId6"/>
    <p:sldId id="328" r:id="rId7"/>
    <p:sldId id="333" r:id="rId8"/>
    <p:sldId id="334" r:id="rId9"/>
    <p:sldId id="335" r:id="rId10"/>
    <p:sldId id="336" r:id="rId11"/>
    <p:sldId id="337" r:id="rId12"/>
    <p:sldId id="329" r:id="rId13"/>
    <p:sldId id="332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3" d="100"/>
          <a:sy n="93" d="100"/>
        </p:scale>
        <p:origin x="29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BEB74-042C-45E2-836D-ED38B795B784}" type="datetimeFigureOut">
              <a:rPr lang="en-AE" smtClean="0"/>
              <a:t>07/07/2026</a:t>
            </a:fld>
            <a:endParaRPr lang="en-AE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8BEDFA-FBA1-4DE4-85C5-5470715C9B3D}" type="slidenum">
              <a:rPr lang="en-AE" smtClean="0"/>
              <a:t>‹#›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20956172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BEDFA-FBA1-4DE4-85C5-5470715C9B3D}" type="slidenum">
              <a:rPr lang="en-AE" smtClean="0"/>
              <a:t>3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945933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BEDFA-FBA1-4DE4-85C5-5470715C9B3D}" type="slidenum">
              <a:rPr lang="en-AE" smtClean="0"/>
              <a:t>4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1899450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8BEDFA-FBA1-4DE4-85C5-5470715C9B3D}" type="slidenum">
              <a:rPr lang="en-AE" smtClean="0"/>
              <a:t>5</a:t>
            </a:fld>
            <a:endParaRPr lang="en-AE" dirty="0"/>
          </a:p>
        </p:txBody>
      </p:sp>
    </p:spTree>
    <p:extLst>
      <p:ext uri="{BB962C8B-B14F-4D97-AF65-F5344CB8AC3E}">
        <p14:creationId xmlns:p14="http://schemas.microsoft.com/office/powerpoint/2010/main" val="3482558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AEB5-225E-4810-9563-E46323C08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9624-476A-4471-B279-AD909F1973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A42A1-7CD4-415E-8AF4-9D85D9FED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0AA0E-0E69-484F-B4AE-93740666A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02798-846B-46C5-8E9A-002676BC0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39904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2FB1A-C635-4763-B822-C6815F5DB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B9B05-75E0-4400-9E29-DF00D535B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4A95CD-B135-4E87-BCEB-F5CDA5DB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7B66C0-FFE4-4C76-B50F-64FA114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E35CFC-DB24-4743-890C-852D3A402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0877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4D71-AFB1-4E1C-8AE8-524A4FF25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06E175-81E0-45F0-BDB5-A097DE6FDB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4499F-80ED-4BDB-AA88-138ACF1DD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1B6B7-9591-4020-867B-9AACA9D0E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ADEF05-F6A0-42F1-9ECA-4ABD4541C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325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8E95C-93DD-4EDC-B202-DE1512A4E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E3F80-1B52-49CF-9284-17541428C1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0BBC02-DF00-4C66-85B6-7928B8EA88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1F04E9-34DD-4A67-9A08-5A37CA5A48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AB592-86DD-461C-92CF-E718CE424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EA06F5-01A7-4D6A-B553-A96AA8B2D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9907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33C1-C9CF-4644-AA3B-B31241C85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8190FF-FA3F-4E33-8D8E-C0BF30642A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AD967B-973D-44B5-93D0-CBBB95E889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229746-207D-44BD-A805-8FB32B9551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AE08D6-F6B4-4C59-AC21-11CACBE74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3A868-1684-4D51-9909-E6FEBA237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C4DB7-8D66-4385-8F36-DDB0B406F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2238E7-75D6-4B5A-9A5E-94AF3DDFF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110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1F7D-9A0E-4428-AFA6-B3884B866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D0FE8-FBC4-4053-A9DB-007B50B02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4F5807-E233-4E49-A82E-99348F18B8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EE2138-6BF4-4E1E-8532-88B172A8A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9168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AA22116-2130-4A94-A2E7-88243ABBE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FB84FF-3C8D-4AF6-ACFC-BBB36E20D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DE3D-6CA5-40DA-BF1D-E2010838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11696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699DD-99C2-4B2F-AB88-D320B4676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CFC6A9-2E46-4F1C-979D-61E38C8C5B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6BF673-C3EC-4B67-86DA-0C2F5AD86E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0DD5C-A4A3-456F-A80A-CC716C66B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19E7FB-5912-492F-B954-BE022C6CD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EEE39-41A5-4D5D-8DE7-C16FA7446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818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A4216-DB91-4F86-AB66-FF06A9B1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E555AE-30E1-4B94-8AE5-5E8654117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D61B40-8596-4A45-BF52-06D0752E62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02313-6DE9-48CC-8A90-1857FDF71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0DD8B-F55D-4B88-9392-4DD158477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0A818-5409-4AFE-B471-373AFE394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441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FD382-98BA-4F37-BB94-642F99FE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94807C-4AD2-4BEF-8657-F80C544E5F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BA87A4-FF52-4E32-95A3-F2A31EFA4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8933-D684-4380-9EBA-8DF478B4F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A5C49-D069-4F13-81B1-A1E07B53A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352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3954B0-E481-4AF9-A3BA-564C7010E2A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3368E4-F9C3-4E17-8884-BF1F7F82F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3F5AA5-E3DC-4A1B-8ECA-54BEAFEE5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FE7C3-D9E2-4027-9A75-6C5E9E6043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59609-801E-4223-836A-D95A46CA2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9750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36721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5E3B56-6D5C-4682-9920-B94261D4E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7D9D1-EE96-4CB8-A598-90974E675C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A7A5E0-FA87-4BDD-B501-B34239EBA7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D56BB9-162D-4FE6-BD3D-5DE0B1A00D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020E43-4D3F-4308-BFAB-EB5E8B801B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69F6BF-410A-4A0D-95F8-52951416D106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59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scikit-learn.org/stable/modules/linear_model.html#logistic-regress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43C2ADE-F067-45D0-AAAA-FFC13890FB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9821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AAD0F6-9FE5-42AD-AC79-E88FBF31D68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6" t="6826"/>
          <a:stretch/>
        </p:blipFill>
        <p:spPr>
          <a:xfrm>
            <a:off x="0" y="4394200"/>
            <a:ext cx="12192000" cy="2463800"/>
          </a:xfrm>
          <a:prstGeom prst="rect">
            <a:avLst/>
          </a:prstGeom>
        </p:spPr>
      </p:pic>
      <p:sp>
        <p:nvSpPr>
          <p:cNvPr id="5" name="Text 3">
            <a:extLst>
              <a:ext uri="{FF2B5EF4-FFF2-40B4-BE49-F238E27FC236}">
                <a16:creationId xmlns:a16="http://schemas.microsoft.com/office/drawing/2014/main" id="{E3314A08-1627-40ED-BFA4-6793AACB7A59}"/>
              </a:ext>
            </a:extLst>
          </p:cNvPr>
          <p:cNvSpPr/>
          <p:nvPr/>
        </p:nvSpPr>
        <p:spPr>
          <a:xfrm>
            <a:off x="1468966" y="1366530"/>
            <a:ext cx="9254067" cy="1088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15000"/>
              </a:lnSpc>
            </a:pPr>
            <a:r>
              <a:rPr lang="en-US" sz="2400" b="1" dirty="0">
                <a:latin typeface="Georgia" pitchFamily="34" charset="0"/>
                <a:ea typeface="Georgia" pitchFamily="34" charset="-122"/>
                <a:cs typeface="Georgia" pitchFamily="34" charset="-120"/>
              </a:rPr>
              <a:t>Logistic Regression </a:t>
            </a:r>
            <a:endParaRPr lang="en-US" sz="2400" dirty="0"/>
          </a:p>
          <a:p>
            <a:pPr algn="ctr">
              <a:lnSpc>
                <a:spcPct val="115000"/>
              </a:lnSpc>
            </a:pPr>
            <a:endParaRPr lang="en-US" sz="240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5B2CB65-D2F8-4C74-98AC-5665A3C7ADA1}"/>
              </a:ext>
            </a:extLst>
          </p:cNvPr>
          <p:cNvSpPr txBox="1">
            <a:spLocks/>
          </p:cNvSpPr>
          <p:nvPr/>
        </p:nvSpPr>
        <p:spPr>
          <a:xfrm>
            <a:off x="1264556" y="2303575"/>
            <a:ext cx="9662888" cy="456355"/>
          </a:xfrm>
          <a:prstGeom prst="rect">
            <a:avLst/>
          </a:prstGeom>
        </p:spPr>
        <p:txBody>
          <a:bodyPr anchor="b"/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i="1" kern="1200">
                <a:solidFill>
                  <a:srgbClr val="000099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Summer Internship- 2026</a:t>
            </a:r>
            <a:endParaRPr lang="en-US" sz="213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A523A3B-A0A7-42F8-9E01-9BE5577510A4}"/>
              </a:ext>
            </a:extLst>
          </p:cNvPr>
          <p:cNvSpPr/>
          <p:nvPr/>
        </p:nvSpPr>
        <p:spPr>
          <a:xfrm>
            <a:off x="389467" y="3152568"/>
            <a:ext cx="4783667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Name: Kanak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Supervisor: 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Prof. Millie Pant</a:t>
            </a:r>
          </a:p>
          <a:p>
            <a:r>
              <a:rPr lang="en-US" sz="1467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Mentor</a:t>
            </a:r>
            <a:r>
              <a:rPr lang="en-US" sz="1467" b="1" dirty="0">
                <a:solidFill>
                  <a:prstClr val="black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: Ms. Riya</a:t>
            </a:r>
            <a:r>
              <a:rPr lang="en-US" sz="1867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
</a:t>
            </a:r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Applied Mathematics &amp; Scientific Computing</a:t>
            </a:r>
          </a:p>
          <a:p>
            <a:r>
              <a:rPr lang="en-US" sz="1467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Indian Institute of Technology  Roorkee</a:t>
            </a:r>
            <a:endParaRPr lang="en-US" sz="1867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4154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4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400" dirty="0"/>
              <a:t>1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101" name="Card 1"/>
          <p:cNvSpPr/>
          <p:nvPr/>
        </p:nvSpPr>
        <p:spPr>
          <a:xfrm>
            <a:off x="700000" y="11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02" name="Number Circle 1"/>
          <p:cNvSpPr/>
          <p:nvPr/>
        </p:nvSpPr>
        <p:spPr>
          <a:xfrm>
            <a:off x="882880" y="16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1</a:t>
            </a:r>
          </a:p>
        </p:txBody>
      </p:sp>
      <p:sp>
        <p:nvSpPr>
          <p:cNvPr id="103" name="Card Text 1"/>
          <p:cNvSpPr txBox="1"/>
          <p:nvPr/>
        </p:nvSpPr>
        <p:spPr>
          <a:xfrm>
            <a:off x="1622880" y="12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Classification &amp; Binary Classification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  <p:sp>
        <p:nvSpPr>
          <p:cNvPr id="104" name="Card 2"/>
          <p:cNvSpPr/>
          <p:nvPr/>
        </p:nvSpPr>
        <p:spPr>
          <a:xfrm>
            <a:off x="6300000" y="11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05" name="Number Circle 2"/>
          <p:cNvSpPr/>
          <p:nvPr/>
        </p:nvSpPr>
        <p:spPr>
          <a:xfrm>
            <a:off x="6482880" y="16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2</a:t>
            </a:r>
          </a:p>
        </p:txBody>
      </p:sp>
      <p:sp>
        <p:nvSpPr>
          <p:cNvPr id="106" name="Card Text 2"/>
          <p:cNvSpPr txBox="1"/>
          <p:nvPr/>
        </p:nvSpPr>
        <p:spPr>
          <a:xfrm>
            <a:off x="7222880" y="12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Logistic Regression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  <p:sp>
        <p:nvSpPr>
          <p:cNvPr id="107" name="Card 3"/>
          <p:cNvSpPr/>
          <p:nvPr/>
        </p:nvSpPr>
        <p:spPr>
          <a:xfrm>
            <a:off x="700000" y="28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08" name="Number Circle 3"/>
          <p:cNvSpPr/>
          <p:nvPr/>
        </p:nvSpPr>
        <p:spPr>
          <a:xfrm>
            <a:off x="882880" y="33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3</a:t>
            </a:r>
          </a:p>
        </p:txBody>
      </p:sp>
      <p:sp>
        <p:nvSpPr>
          <p:cNvPr id="109" name="Card Text 3"/>
          <p:cNvSpPr txBox="1"/>
          <p:nvPr/>
        </p:nvSpPr>
        <p:spPr>
          <a:xfrm>
            <a:off x="1622880" y="29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Odds Ratio &amp; Logit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  <p:sp>
        <p:nvSpPr>
          <p:cNvPr id="110" name="Card 4"/>
          <p:cNvSpPr/>
          <p:nvPr/>
        </p:nvSpPr>
        <p:spPr>
          <a:xfrm>
            <a:off x="6300000" y="28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11" name="Number Circle 4"/>
          <p:cNvSpPr/>
          <p:nvPr/>
        </p:nvSpPr>
        <p:spPr>
          <a:xfrm>
            <a:off x="6482880" y="33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4</a:t>
            </a:r>
          </a:p>
        </p:txBody>
      </p:sp>
      <p:sp>
        <p:nvSpPr>
          <p:cNvPr id="112" name="Card Text 4"/>
          <p:cNvSpPr txBox="1"/>
          <p:nvPr/>
        </p:nvSpPr>
        <p:spPr>
          <a:xfrm>
            <a:off x="7222880" y="29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Sigmoid Function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  <p:sp>
        <p:nvSpPr>
          <p:cNvPr id="113" name="Card 5"/>
          <p:cNvSpPr/>
          <p:nvPr/>
        </p:nvSpPr>
        <p:spPr>
          <a:xfrm>
            <a:off x="700000" y="45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14" name="Number Circle 5"/>
          <p:cNvSpPr/>
          <p:nvPr/>
        </p:nvSpPr>
        <p:spPr>
          <a:xfrm>
            <a:off x="882880" y="50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5</a:t>
            </a:r>
          </a:p>
        </p:txBody>
      </p:sp>
      <p:sp>
        <p:nvSpPr>
          <p:cNvPr id="115" name="Card Text 5"/>
          <p:cNvSpPr txBox="1"/>
          <p:nvPr/>
        </p:nvSpPr>
        <p:spPr>
          <a:xfrm>
            <a:off x="1622880" y="46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Log Loss Function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  <p:sp>
        <p:nvSpPr>
          <p:cNvPr id="116" name="Card 6"/>
          <p:cNvSpPr/>
          <p:nvPr/>
        </p:nvSpPr>
        <p:spPr>
          <a:xfrm>
            <a:off x="6300000" y="45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117" name="Number Circle 6"/>
          <p:cNvSpPr/>
          <p:nvPr/>
        </p:nvSpPr>
        <p:spPr>
          <a:xfrm>
            <a:off x="6482880" y="5015000"/>
            <a:ext cx="620000" cy="620000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6</a:t>
            </a:r>
          </a:p>
        </p:txBody>
      </p:sp>
      <p:sp>
        <p:nvSpPr>
          <p:cNvPr id="118" name="Card Text 6"/>
          <p:cNvSpPr txBox="1"/>
          <p:nvPr/>
        </p:nvSpPr>
        <p:spPr>
          <a:xfrm>
            <a:off x="7222880" y="46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Applications</a:t>
            </a:r>
          </a:p>
          <a:p>
            <a:pPr algn="l">
              <a:lnSpc>
                <a:spcPct val="100000"/>
              </a:lnSpc>
            </a:pPr>
            <a:endParaRPr lang="en-US" sz="1100" dirty="0">
              <a:solidFill>
                <a:srgbClr val="595959"/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7857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Binary Classification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0" name="Body Text 3"/>
          <p:cNvSpPr txBox="1"/>
          <p:nvPr/>
        </p:nvSpPr>
        <p:spPr>
          <a:xfrm>
            <a:off x="500000" y="1088238"/>
            <a:ext cx="6250000" cy="5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t"/>
          <a:lstStyle/>
          <a:p>
            <a:pPr algn="l">
              <a:spcAft>
                <a:spcPts val="600"/>
              </a:spcAft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</a:rPr>
              <a:t>Classification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A supervised learning task that predicts a discrete class label for each input, rather than a continuous number</a:t>
            </a:r>
          </a:p>
          <a:p>
            <a:pPr marL="285750" indent="-285750" algn="l">
              <a:spcAft>
                <a:spcPts val="18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Examples: binary (spam or not spam)</a:t>
            </a:r>
          </a:p>
          <a:p>
            <a:pPr algn="l">
              <a:spcAft>
                <a:spcPts val="600"/>
              </a:spcAft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</a:rPr>
              <a:t>Binary Classification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Exactly two possible outcomes, usually coded as 0 (negative) and 1 (positive)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A model estimates the probability p of the positive class; a threshold (commonly 0.5) converts p into a class label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Common examples: disease diagnosis, fraud detection, email spam filtering, customer segmentation.</a:t>
            </a:r>
          </a:p>
        </p:txBody>
      </p:sp>
      <p:sp>
        <p:nvSpPr>
          <p:cNvPr id="52" name="Caption 3"/>
          <p:cNvSpPr txBox="1"/>
          <p:nvPr/>
        </p:nvSpPr>
        <p:spPr>
          <a:xfrm>
            <a:off x="6950000" y="4950000"/>
            <a:ext cx="46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ctr"/>
            <a:r>
              <a:rPr lang="en-US" sz="1100" i="1" dirty="0">
                <a:solidFill>
                  <a:srgbClr val="595959"/>
                </a:solidFill>
                <a:latin typeface="Calibri" pitchFamily="34" charset="0"/>
              </a:rPr>
              <a:t>Two classes separated by a decision boundary</a:t>
            </a:r>
          </a:p>
        </p:txBody>
      </p:sp>
      <p:pic>
        <p:nvPicPr>
          <p:cNvPr id="3074" name="Picture 2" descr="Supervised Learning: Classification Techniques | by Aakash R | Medium">
            <a:extLst>
              <a:ext uri="{FF2B5EF4-FFF2-40B4-BE49-F238E27FC236}">
                <a16:creationId xmlns:a16="http://schemas.microsoft.com/office/drawing/2014/main" id="{155C1C35-AF7B-43CE-9605-C1D2764FC2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0043" y="1325674"/>
            <a:ext cx="4325542" cy="31403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  <a:extLst/>
        </p:spPr>
      </p:pic>
    </p:spTree>
    <p:extLst>
      <p:ext uri="{BB962C8B-B14F-4D97-AF65-F5344CB8AC3E}">
        <p14:creationId xmlns:p14="http://schemas.microsoft.com/office/powerpoint/2010/main" val="2881061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3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3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80720" y="0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&amp; Odds Ratio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0" name="LR Text"/>
          <p:cNvSpPr txBox="1"/>
          <p:nvPr/>
        </p:nvSpPr>
        <p:spPr>
          <a:xfrm>
            <a:off x="797180" y="1224780"/>
            <a:ext cx="5650000" cy="2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t"/>
          <a:lstStyle/>
          <a:p>
            <a:pPr algn="l">
              <a:spcAft>
                <a:spcPts val="600"/>
              </a:spcAft>
            </a:pPr>
            <a:r>
              <a:rPr lang="en-US" sz="2400" b="1" dirty="0">
                <a:solidFill>
                  <a:srgbClr val="002060"/>
                </a:solidFill>
                <a:latin typeface="Calibri" pitchFamily="34" charset="0"/>
              </a:rPr>
              <a:t>Logistic Regression</a:t>
            </a:r>
          </a:p>
          <a:p>
            <a:pPr>
              <a:spcAft>
                <a:spcPts val="900"/>
              </a:spcAft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Logistic Regression is a supervised learning algorithm primarily used for classification tasks. Despite its name, it focuses on predicting the probability that a data point belongs to a specific category.</a:t>
            </a:r>
            <a:endParaRPr lang="en-US" sz="120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  <p:sp>
        <p:nvSpPr>
          <p:cNvPr id="53" name="Odds Text"/>
          <p:cNvSpPr txBox="1"/>
          <p:nvPr/>
        </p:nvSpPr>
        <p:spPr>
          <a:xfrm>
            <a:off x="5675160" y="2898886"/>
            <a:ext cx="5350000" cy="26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algn="l">
              <a:spcAft>
                <a:spcPts val="600"/>
              </a:spcAft>
            </a:pPr>
            <a:r>
              <a:rPr lang="en-US" sz="2000" b="1" dirty="0">
                <a:solidFill>
                  <a:srgbClr val="002060"/>
                </a:solidFill>
                <a:latin typeface="Calibri" pitchFamily="34" charset="0"/>
              </a:rPr>
              <a:t>Odds &amp; Odds Ratio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Odds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= p / (1–p): The ratio of success to failure. It can range from 0 to infinity.</a:t>
            </a:r>
          </a:p>
          <a:p>
            <a:pPr marL="285750" indent="-285750" algn="l">
              <a:spcAft>
                <a:spcPts val="9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Logit (log-odds) 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= ln(p / (1–p)): Log odds is simply the natural logarithm of the odds.</a:t>
            </a:r>
          </a:p>
          <a:p>
            <a:pPr marL="285750" indent="-285750">
              <a:spcAft>
                <a:spcPts val="900"/>
              </a:spcAft>
              <a:buFont typeface="Arial"/>
              <a:buChar char="•"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</a:rPr>
              <a:t>Odds ratio =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The Odds Ratio compares the odds of an event happening under two different conditions</a:t>
            </a:r>
            <a:endParaRPr lang="en-US" sz="1600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404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4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Function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0" name="Sigmoid Derivation"/>
          <p:cNvSpPr txBox="1"/>
          <p:nvPr/>
        </p:nvSpPr>
        <p:spPr>
          <a:xfrm>
            <a:off x="500000" y="1080000"/>
            <a:ext cx="5950000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t"/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The S-Shaped Activation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At the heart of the model is the Sigmoid (Logistic) function. It transforms the linear combination of inputs into a valid probability.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p=1/(1+e^-z)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This ensures that no matter the input magnitude, the resulting prediction remains strictly bounded within the (0, 1) interval.</a:t>
            </a:r>
          </a:p>
          <a:p>
            <a:pPr algn="l">
              <a:spcAft>
                <a:spcPts val="1000"/>
              </a:spcAft>
            </a:pPr>
            <a:endParaRPr lang="en-US" sz="1200" dirty="0">
              <a:latin typeface="Calibri" pitchFamily="34" charset="0"/>
            </a:endParaRPr>
          </a:p>
          <a:p>
            <a:pPr algn="l">
              <a:spcAft>
                <a:spcPts val="500"/>
              </a:spcAft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</a:rPr>
              <a:t>How It Is Derived (from the Logit)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Start from the logit equation: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ln( p / (1-p) ) = z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Exponentiate both sides: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p / (1-p) =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Solve for p: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 =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(1-p) =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-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Collect p terms: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p(1 +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) =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p =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/ (1 +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)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Divide numerator &amp; denominator by e</a:t>
            </a:r>
            <a:r>
              <a:rPr lang="en-US" sz="1600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z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: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p = 1 / (1 + e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-z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) = σ(z)</a:t>
            </a:r>
          </a:p>
        </p:txBody>
      </p:sp>
      <p:pic>
        <p:nvPicPr>
          <p:cNvPr id="55" name="Sigmoid 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0000" y="1100000"/>
            <a:ext cx="4700000" cy="327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8711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3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5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Log Loss Function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50" name="LogLoss Derivation"/>
          <p:cNvSpPr txBox="1"/>
          <p:nvPr/>
        </p:nvSpPr>
        <p:spPr>
          <a:xfrm>
            <a:off x="435685" y="1038452"/>
            <a:ext cx="11566845" cy="5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91440" bIns="0" anchor="t"/>
          <a:lstStyle/>
          <a:p>
            <a:pPr>
              <a:spcAft>
                <a:spcPts val="500"/>
              </a:spcAft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</a:rPr>
              <a:t>Definition:-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Log Loss (Logarithmic Loss)(Binary Cross-Entropy Loss) is the standard evaluation metric used to measure the performance of a classification model (such as Logistic Regression)that outputs a probability value between 0 and 1.</a:t>
            </a:r>
          </a:p>
          <a:p>
            <a:pPr>
              <a:spcAft>
                <a:spcPts val="500"/>
              </a:spcAft>
            </a:pPr>
            <a:endParaRPr lang="en-US" sz="1500" b="1" dirty="0">
              <a:solidFill>
                <a:schemeClr val="accent1">
                  <a:lumMod val="75000"/>
                </a:schemeClr>
              </a:solidFill>
              <a:latin typeface="Calibri" pitchFamily="34" charset="0"/>
            </a:endParaRPr>
          </a:p>
          <a:p>
            <a:pPr algn="l">
              <a:spcAft>
                <a:spcPts val="500"/>
              </a:spcAft>
            </a:pPr>
            <a:r>
              <a:rPr lang="en-US" b="1" dirty="0">
                <a:solidFill>
                  <a:srgbClr val="002060"/>
                </a:solidFill>
                <a:latin typeface="Calibri" pitchFamily="34" charset="0"/>
              </a:rPr>
              <a:t>Deriving Log Loss </a:t>
            </a:r>
          </a:p>
          <a:p>
            <a:pPr marL="228600" indent="-228600">
              <a:spcAft>
                <a:spcPts val="700"/>
              </a:spcAft>
              <a:buFont typeface="Arial"/>
              <a:buAutoNum type="arabicPeriod"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Probability for a single point (Bernoulli PMF)-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For a binary outcome(y=0 or 1), the probability of a single observation is written as: </a:t>
            </a:r>
          </a:p>
          <a:p>
            <a:pPr>
              <a:spcAft>
                <a:spcPts val="700"/>
              </a:spcAft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L = p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y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(1-p)</a:t>
            </a:r>
            <a:r>
              <a:rPr lang="en-US" sz="1600" b="1" baseline="300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1-y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For m independent samples, the total likelihood is the product: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L = Π pi^yi (1-pi)^(1-yi)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Taking the log turns the product into a sum (log-likelihood): </a:t>
            </a:r>
            <a:r>
              <a:rPr lang="en-US" sz="1600" b="1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ln L= Σ [yi ln(pi) + (1-yi) ln(1-pi)]</a:t>
            </a:r>
          </a:p>
          <a:p>
            <a:pPr marL="228600" indent="-228600" algn="l">
              <a:spcAft>
                <a:spcPts val="700"/>
              </a:spcAft>
              <a:buFont typeface="Arial"/>
              <a:buAutoNum type="arabicPeriod"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Maximizing log-likelihood is the same as minimizing its negative, averaged over m samples — this defines the cost function</a:t>
            </a:r>
          </a:p>
          <a:p>
            <a:pPr algn="l"/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libri" pitchFamily="34" charset="0"/>
              </a:rPr>
              <a:t>                       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EC70EFF8-8C04-4A7C-A0ED-D11155E9B0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5103" y="4931031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DB7194-D526-4E33-BCAD-F1C192C635EB}"/>
                  </a:ext>
                </a:extLst>
              </p:cNvPr>
              <p:cNvSpPr txBox="1"/>
              <p:nvPr/>
            </p:nvSpPr>
            <p:spPr>
              <a:xfrm>
                <a:off x="181232" y="3766598"/>
                <a:ext cx="6161903" cy="6885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𝒋</m:t>
                      </m:r>
                      <m:d>
                        <m:dPr>
                          <m:ctrlP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𝜽</m:t>
                          </m:r>
                        </m:e>
                      </m:d>
                      <m:r>
                        <a:rPr lang="en-US" sz="16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=−(</m:t>
                      </m:r>
                      <m:f>
                        <m:fPr>
                          <m:ctrlP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  <m:r>
                        <a:rPr lang="en-US" sz="1600" b="1" i="1" smtClean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𝒚𝒊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d>
                            <m:dPr>
                              <m:ctrlP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𝒑</m:t>
                              </m:r>
                              <m:r>
                                <a:rPr lang="en-US" sz="1600" b="1" i="1" baseline="-25000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𝒊</m:t>
                              </m:r>
                            </m:e>
                          </m:d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b="1" i="1" smtClean="0">
                                  <a:solidFill>
                                    <a:schemeClr val="accent1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𝒚𝒊</m:t>
                              </m:r>
                            </m:e>
                          </m:d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∗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𝒍𝒏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𝒑𝒊</m:t>
                          </m:r>
                          <m:r>
                            <a:rPr lang="en-US" sz="1600" b="1" i="1" smtClean="0">
                              <a:solidFill>
                                <a:schemeClr val="accent1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)]</m:t>
                          </m:r>
                        </m:e>
                      </m:nary>
                    </m:oMath>
                  </m:oMathPara>
                </a14:m>
                <a:endParaRPr lang="en-US" sz="1600" b="1" dirty="0">
                  <a:solidFill>
                    <a:schemeClr val="accent1">
                      <a:lumMod val="75000"/>
                    </a:schemeClr>
                  </a:solidFill>
                  <a:latin typeface="Calibri" pitchFamily="34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3DB7194-D526-4E33-BCAD-F1C192C63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232" y="3766598"/>
                <a:ext cx="6161903" cy="6885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4338E710-38E8-4634-A700-1396DCFAE59D}"/>
              </a:ext>
            </a:extLst>
          </p:cNvPr>
          <p:cNvSpPr txBox="1"/>
          <p:nvPr/>
        </p:nvSpPr>
        <p:spPr>
          <a:xfrm>
            <a:off x="371429" y="3926225"/>
            <a:ext cx="5264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5.</a:t>
            </a:r>
            <a:endParaRPr lang="en-AE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64D1CA-68C9-4116-9AF7-96916A3EAD1D}"/>
              </a:ext>
            </a:extLst>
          </p:cNvPr>
          <p:cNvSpPr txBox="1"/>
          <p:nvPr/>
        </p:nvSpPr>
        <p:spPr>
          <a:xfrm>
            <a:off x="1664769" y="4566340"/>
            <a:ext cx="27184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Where y = actual value </a:t>
            </a:r>
          </a:p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p</a:t>
            </a:r>
            <a:r>
              <a:rPr lang="en-US" sz="1600" baseline="-25000" dirty="0">
                <a:solidFill>
                  <a:schemeClr val="accent1">
                    <a:lumMod val="75000"/>
                  </a:schemeClr>
                </a:solidFill>
              </a:rPr>
              <a:t>i</a:t>
            </a:r>
            <a:r>
              <a:rPr lang="en-US" sz="1600" dirty="0">
                <a:solidFill>
                  <a:schemeClr val="accent1">
                    <a:lumMod val="75000"/>
                  </a:schemeClr>
                </a:solidFill>
              </a:rPr>
              <a:t> = predicted value</a:t>
            </a:r>
            <a:endParaRPr lang="en-AE" sz="16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571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6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1E018-23E5-4903-B9BF-AFE7660AF823}"/>
              </a:ext>
            </a:extLst>
          </p:cNvPr>
          <p:cNvSpPr/>
          <p:nvPr/>
        </p:nvSpPr>
        <p:spPr>
          <a:xfrm>
            <a:off x="-92279" y="158942"/>
            <a:ext cx="92111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Logistic Regression Application: Titanic Case Study</a:t>
            </a:r>
            <a:endParaRPr lang="en-US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5253BE-3E7E-4E36-9B69-80AEB60229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69" y="1001979"/>
            <a:ext cx="11583475" cy="446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2754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3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7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1E018-23E5-4903-B9BF-AFE7660AF823}"/>
              </a:ext>
            </a:extLst>
          </p:cNvPr>
          <p:cNvSpPr/>
          <p:nvPr/>
        </p:nvSpPr>
        <p:spPr>
          <a:xfrm>
            <a:off x="-92279" y="158942"/>
            <a:ext cx="92111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Logistic Regression Application: Titanic Case Study</a:t>
            </a:r>
            <a:endParaRPr lang="en-US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EE73223-52F5-47B3-A69C-2993D3560F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582" y="950600"/>
            <a:ext cx="10272558" cy="5306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2714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4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8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1E018-23E5-4903-B9BF-AFE7660AF823}"/>
              </a:ext>
            </a:extLst>
          </p:cNvPr>
          <p:cNvSpPr/>
          <p:nvPr/>
        </p:nvSpPr>
        <p:spPr>
          <a:xfrm>
            <a:off x="-92279" y="158942"/>
            <a:ext cx="92111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Logistic Regression Application: Titanic Case Study</a:t>
            </a:r>
            <a:endParaRPr lang="en-US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56F4038-72EB-4551-A624-8459646541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1" y="969607"/>
            <a:ext cx="5821680" cy="53973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8D07D6-2693-4DEE-ACDB-D59657D19D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965" y="1031483"/>
            <a:ext cx="5771552" cy="5154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875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9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1E018-23E5-4903-B9BF-AFE7660AF823}"/>
              </a:ext>
            </a:extLst>
          </p:cNvPr>
          <p:cNvSpPr/>
          <p:nvPr/>
        </p:nvSpPr>
        <p:spPr>
          <a:xfrm>
            <a:off x="-92279" y="158942"/>
            <a:ext cx="92111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Logistic Regression Application: Titanic Case Study</a:t>
            </a:r>
            <a:endParaRPr lang="en-US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50F60A7-5FC6-430F-8A8D-98877F6B958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38" t="2269" r="10150" b="6981"/>
          <a:stretch/>
        </p:blipFill>
        <p:spPr>
          <a:xfrm>
            <a:off x="435685" y="1148367"/>
            <a:ext cx="5006340" cy="39624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24A78F7-2095-4F27-9DD4-5CB40E84B41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-1537" t="-68607" r="1537" b="68607"/>
          <a:stretch/>
        </p:blipFill>
        <p:spPr>
          <a:xfrm>
            <a:off x="6029000" y="-293060"/>
            <a:ext cx="5087278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8504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4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10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71E018-23E5-4903-B9BF-AFE7660AF823}"/>
              </a:ext>
            </a:extLst>
          </p:cNvPr>
          <p:cNvSpPr/>
          <p:nvPr/>
        </p:nvSpPr>
        <p:spPr>
          <a:xfrm>
            <a:off x="-92279" y="158942"/>
            <a:ext cx="9211112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</a:rPr>
              <a:t>Logistic Regression Application: Titanic Case Study</a:t>
            </a:r>
            <a:endParaRPr lang="en-US" sz="3200" b="1" cap="none" spc="0" dirty="0">
              <a:ln w="0"/>
              <a:solidFill>
                <a:schemeClr val="accent1">
                  <a:lumMod val="50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03FDE7E-34FD-4694-A679-61D2230E67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8821" y="1275050"/>
            <a:ext cx="7627620" cy="4592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1855135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704914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11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35685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 of Logistic Regression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201" name="AppCard 1"/>
          <p:cNvSpPr/>
          <p:nvPr/>
        </p:nvSpPr>
        <p:spPr>
          <a:xfrm>
            <a:off x="700000" y="11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02" name="AppIcon 1"/>
          <p:cNvSpPr/>
          <p:nvPr/>
        </p:nvSpPr>
        <p:spPr>
          <a:xfrm>
            <a:off x="882880" y="16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H</a:t>
            </a:r>
          </a:p>
        </p:txBody>
      </p:sp>
      <p:sp>
        <p:nvSpPr>
          <p:cNvPr id="203" name="AppText 1"/>
          <p:cNvSpPr txBox="1"/>
          <p:nvPr/>
        </p:nvSpPr>
        <p:spPr>
          <a:xfrm>
            <a:off x="1622880" y="12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Healthcare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Predicting disease risk, e.g. diabetes or cancer diagnosis from patient data</a:t>
            </a:r>
          </a:p>
        </p:txBody>
      </p:sp>
      <p:sp>
        <p:nvSpPr>
          <p:cNvPr id="204" name="AppCard 2"/>
          <p:cNvSpPr/>
          <p:nvPr/>
        </p:nvSpPr>
        <p:spPr>
          <a:xfrm>
            <a:off x="6300000" y="11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05" name="AppIcon 2"/>
          <p:cNvSpPr/>
          <p:nvPr/>
        </p:nvSpPr>
        <p:spPr>
          <a:xfrm>
            <a:off x="6482880" y="16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F</a:t>
            </a:r>
          </a:p>
        </p:txBody>
      </p:sp>
      <p:sp>
        <p:nvSpPr>
          <p:cNvPr id="206" name="AppText 2"/>
          <p:cNvSpPr txBox="1"/>
          <p:nvPr/>
        </p:nvSpPr>
        <p:spPr>
          <a:xfrm>
            <a:off x="7222880" y="12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Finance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Credit scoring, loan default prediction and fraud detection</a:t>
            </a:r>
          </a:p>
        </p:txBody>
      </p:sp>
      <p:sp>
        <p:nvSpPr>
          <p:cNvPr id="207" name="AppCard 3"/>
          <p:cNvSpPr/>
          <p:nvPr/>
        </p:nvSpPr>
        <p:spPr>
          <a:xfrm>
            <a:off x="700000" y="28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08" name="AppIcon 3"/>
          <p:cNvSpPr/>
          <p:nvPr/>
        </p:nvSpPr>
        <p:spPr>
          <a:xfrm>
            <a:off x="882880" y="33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M</a:t>
            </a:r>
          </a:p>
        </p:txBody>
      </p:sp>
      <p:sp>
        <p:nvSpPr>
          <p:cNvPr id="209" name="AppText 3"/>
          <p:cNvSpPr txBox="1"/>
          <p:nvPr/>
        </p:nvSpPr>
        <p:spPr>
          <a:xfrm>
            <a:off x="1622880" y="29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Marketing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Predicting customer churn and ad click-through / conversion</a:t>
            </a:r>
          </a:p>
        </p:txBody>
      </p:sp>
      <p:sp>
        <p:nvSpPr>
          <p:cNvPr id="210" name="AppCard 4"/>
          <p:cNvSpPr/>
          <p:nvPr/>
        </p:nvSpPr>
        <p:spPr>
          <a:xfrm>
            <a:off x="6300000" y="28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11" name="AppIcon 4"/>
          <p:cNvSpPr/>
          <p:nvPr/>
        </p:nvSpPr>
        <p:spPr>
          <a:xfrm>
            <a:off x="6482880" y="33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S</a:t>
            </a:r>
          </a:p>
        </p:txBody>
      </p:sp>
      <p:sp>
        <p:nvSpPr>
          <p:cNvPr id="212" name="AppText 4"/>
          <p:cNvSpPr txBox="1"/>
          <p:nvPr/>
        </p:nvSpPr>
        <p:spPr>
          <a:xfrm>
            <a:off x="7222880" y="29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Email &amp; Security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Spam vs. legitimate email and intrusion detection</a:t>
            </a:r>
          </a:p>
        </p:txBody>
      </p:sp>
      <p:sp>
        <p:nvSpPr>
          <p:cNvPr id="213" name="AppCard 5"/>
          <p:cNvSpPr/>
          <p:nvPr/>
        </p:nvSpPr>
        <p:spPr>
          <a:xfrm>
            <a:off x="700000" y="45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14" name="AppIcon 5"/>
          <p:cNvSpPr/>
          <p:nvPr/>
        </p:nvSpPr>
        <p:spPr>
          <a:xfrm>
            <a:off x="882880" y="50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V</a:t>
            </a:r>
          </a:p>
        </p:txBody>
      </p:sp>
      <p:sp>
        <p:nvSpPr>
          <p:cNvPr id="215" name="AppText 5"/>
          <p:cNvSpPr txBox="1"/>
          <p:nvPr/>
        </p:nvSpPr>
        <p:spPr>
          <a:xfrm>
            <a:off x="1622880" y="46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Political Science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Modeling voter turnout and election outcomes</a:t>
            </a:r>
          </a:p>
        </p:txBody>
      </p:sp>
      <p:sp>
        <p:nvSpPr>
          <p:cNvPr id="216" name="AppCard 6"/>
          <p:cNvSpPr/>
          <p:nvPr/>
        </p:nvSpPr>
        <p:spPr>
          <a:xfrm>
            <a:off x="6300000" y="4550000"/>
            <a:ext cx="5300000" cy="1550000"/>
          </a:xfrm>
          <a:prstGeom prst="roundRect">
            <a:avLst>
              <a:gd name="adj" fmla="val 6000"/>
            </a:avLst>
          </a:prstGeom>
          <a:solidFill>
            <a:srgbClr val="EEF2FA"/>
          </a:solidFill>
          <a:ln>
            <a:noFill/>
          </a:ln>
        </p:spPr>
        <p:txBody>
          <a:bodyPr wrap="square" lIns="182880" tIns="91440" rIns="182880" bIns="91440" anchor="ctr"/>
          <a:lstStyle/>
          <a:p>
            <a:pPr algn="l"/>
            <a:endParaRPr lang="en-US" sz="1000" dirty="0"/>
          </a:p>
        </p:txBody>
      </p:sp>
      <p:sp>
        <p:nvSpPr>
          <p:cNvPr id="217" name="AppIcon 6"/>
          <p:cNvSpPr/>
          <p:nvPr/>
        </p:nvSpPr>
        <p:spPr>
          <a:xfrm>
            <a:off x="6482880" y="5015000"/>
            <a:ext cx="620000" cy="620000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alibri" pitchFamily="34" charset="0"/>
              </a:rPr>
              <a:t>P</a:t>
            </a:r>
          </a:p>
        </p:txBody>
      </p:sp>
      <p:sp>
        <p:nvSpPr>
          <p:cNvPr id="218" name="AppText 6"/>
          <p:cNvSpPr txBox="1"/>
          <p:nvPr/>
        </p:nvSpPr>
        <p:spPr>
          <a:xfrm>
            <a:off x="7222880" y="4670000"/>
            <a:ext cx="4227120" cy="131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/>
          <a:lstStyle/>
          <a:p>
            <a:pPr algn="l">
              <a:lnSpc>
                <a:spcPct val="100000"/>
              </a:lnSpc>
            </a:pPr>
            <a:r>
              <a:rPr lang="en-US" sz="1500" b="1" dirty="0">
                <a:solidFill>
                  <a:srgbClr val="002060"/>
                </a:solidFill>
                <a:latin typeface="Calibri" pitchFamily="34" charset="0"/>
              </a:rPr>
              <a:t>Human Resources</a:t>
            </a:r>
          </a:p>
          <a:p>
            <a:pPr algn="l">
              <a:lnSpc>
                <a:spcPct val="100000"/>
              </a:lnSpc>
            </a:pPr>
            <a:r>
              <a:rPr lang="en-US" sz="1100" dirty="0">
                <a:solidFill>
                  <a:srgbClr val="595959"/>
                </a:solidFill>
                <a:latin typeface="Calibri" pitchFamily="34" charset="0"/>
              </a:rPr>
              <a:t>Predicting employee attrition and hiring outcomes</a:t>
            </a:r>
          </a:p>
        </p:txBody>
      </p:sp>
    </p:spTree>
    <p:extLst>
      <p:ext uri="{BB962C8B-B14F-4D97-AF65-F5344CB8AC3E}">
        <p14:creationId xmlns:p14="http://schemas.microsoft.com/office/powerpoint/2010/main" val="13257577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1FFE59-026A-473E-A6C1-33BE905C1C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92"/>
          <a:stretch/>
        </p:blipFill>
        <p:spPr>
          <a:xfrm>
            <a:off x="11493298" y="120228"/>
            <a:ext cx="698703" cy="66220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789F53C-0DA9-4701-8524-7428C456B9C0}"/>
              </a:ext>
            </a:extLst>
          </p:cNvPr>
          <p:cNvSpPr/>
          <p:nvPr/>
        </p:nvSpPr>
        <p:spPr>
          <a:xfrm>
            <a:off x="0" y="827509"/>
            <a:ext cx="12192000" cy="6095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DC0CBA-66F4-4490-B6C3-E30F70CD7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856" y="6292828"/>
            <a:ext cx="2464144" cy="31754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FBA78B91-1AE7-4F8C-97C7-A0C50D96305D}"/>
              </a:ext>
            </a:extLst>
          </p:cNvPr>
          <p:cNvSpPr/>
          <p:nvPr/>
        </p:nvSpPr>
        <p:spPr>
          <a:xfrm>
            <a:off x="0" y="6680200"/>
            <a:ext cx="12192000" cy="1778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IN" sz="2000" dirty="0"/>
              <a:t>12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BEB3655-4959-4283-BBCE-3F68CEC4998C}"/>
              </a:ext>
            </a:extLst>
          </p:cNvPr>
          <p:cNvSpPr/>
          <p:nvPr/>
        </p:nvSpPr>
        <p:spPr>
          <a:xfrm>
            <a:off x="426720" y="10131"/>
            <a:ext cx="11338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>
              <a:solidFill>
                <a:srgbClr val="002060"/>
              </a:solidFill>
            </a:endParaRPr>
          </a:p>
        </p:txBody>
      </p:sp>
      <p:sp>
        <p:nvSpPr>
          <p:cNvPr id="80" name="References List"/>
          <p:cNvSpPr txBox="1"/>
          <p:nvPr/>
        </p:nvSpPr>
        <p:spPr>
          <a:xfrm>
            <a:off x="600000" y="1250000"/>
            <a:ext cx="11000000" cy="50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pPr marL="228600" indent="-228600" algn="l">
              <a:spcAft>
                <a:spcPts val="1200"/>
              </a:spcAft>
              <a:buFont typeface="Arial"/>
              <a:buAutoNum type="arabicPeriod"/>
            </a:pPr>
            <a:r>
              <a:rPr lang="en-US" sz="1400" dirty="0">
                <a:latin typeface="Calibri" pitchFamily="34" charset="0"/>
              </a:rPr>
              <a:t>Hosmer, D. W., Lemeshow, S., &amp; Sturdivant, R. X. (2013). Applied Logistic Regression (3rd ed.). Wiley.</a:t>
            </a:r>
          </a:p>
          <a:p>
            <a:pPr marL="228600" indent="-228600" algn="l">
              <a:spcAft>
                <a:spcPts val="1200"/>
              </a:spcAft>
              <a:buFont typeface="Arial"/>
              <a:buAutoNum type="arabicPeriod"/>
            </a:pPr>
            <a:r>
              <a:rPr lang="en-US" sz="1400" dirty="0">
                <a:latin typeface="Calibri" pitchFamily="34" charset="0"/>
              </a:rPr>
              <a:t>Bishop, C. M. (2006). Pattern Recognition and Machine Learning. Springer.</a:t>
            </a:r>
          </a:p>
          <a:p>
            <a:pPr marL="228600" indent="-228600" algn="l">
              <a:spcAft>
                <a:spcPts val="1200"/>
              </a:spcAft>
              <a:buFont typeface="Arial"/>
              <a:buAutoNum type="arabicPeriod"/>
            </a:pPr>
            <a:r>
              <a:rPr lang="en-US" sz="1400" dirty="0">
                <a:latin typeface="Calibri" pitchFamily="34" charset="0"/>
              </a:rPr>
              <a:t>James, G., Witten, D., Hastie, T., &amp; Tibshirani, R. (2021). An Introduction to Statistical Learning (2nd ed.). Springer.</a:t>
            </a:r>
          </a:p>
          <a:p>
            <a:pPr marL="228600" indent="-228600" algn="l">
              <a:spcAft>
                <a:spcPts val="1200"/>
              </a:spcAft>
              <a:buFont typeface="Arial"/>
              <a:buAutoNum type="arabicPeriod"/>
            </a:pPr>
            <a:r>
              <a:rPr lang="en-US" sz="1400" dirty="0">
                <a:latin typeface="Calibri" pitchFamily="34" charset="0"/>
              </a:rPr>
              <a:t>Ng, A. (Stanford CS229). Lecture Notes on Logistic Regression and Generalized Linear Models.</a:t>
            </a:r>
          </a:p>
          <a:p>
            <a:pPr marL="228600" indent="-228600" algn="l">
              <a:buFont typeface="Arial"/>
              <a:buAutoNum type="arabicPeriod"/>
            </a:pPr>
            <a:r>
              <a:rPr lang="en-US" sz="1400" dirty="0">
                <a:latin typeface="Calibri" pitchFamily="34" charset="0"/>
              </a:rPr>
              <a:t>scikit-learn documentation: Logistic Regression, </a:t>
            </a:r>
            <a:r>
              <a:rPr lang="en-US" sz="1400" dirty="0">
                <a:latin typeface="Calibri" pitchFamily="34" charset="0"/>
                <a:hlinkClick r:id="rId4"/>
              </a:rPr>
              <a:t>https://scikit-learn.org/stable/modules/linear_model.html#logistic-regression</a:t>
            </a:r>
            <a:endParaRPr lang="en-US" sz="1400" dirty="0">
              <a:latin typeface="Calibri" pitchFamily="34" charset="0"/>
            </a:endParaRPr>
          </a:p>
          <a:p>
            <a:pPr marL="228600" indent="-228600">
              <a:buFont typeface="Arial"/>
              <a:buAutoNum type="arabicPeriod"/>
            </a:pPr>
            <a:r>
              <a:rPr lang="en-US" sz="1400" dirty="0"/>
              <a:t>Kaggle Datasets — https://www.kaggle.com/datasets </a:t>
            </a:r>
            <a:endParaRPr lang="en-US" sz="1400" dirty="0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07489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853</Words>
  <Application>Microsoft Office PowerPoint</Application>
  <PresentationFormat>Widescreen</PresentationFormat>
  <Paragraphs>108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admin</cp:lastModifiedBy>
  <cp:revision>36</cp:revision>
  <dcterms:created xsi:type="dcterms:W3CDTF">2026-05-21T06:29:53Z</dcterms:created>
  <dcterms:modified xsi:type="dcterms:W3CDTF">2026-07-07T10:07:44Z</dcterms:modified>
</cp:coreProperties>
</file>