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1" r:id="rId2"/>
    <p:sldId id="257" r:id="rId3"/>
    <p:sldId id="325" r:id="rId4"/>
    <p:sldId id="260" r:id="rId5"/>
    <p:sldId id="328" r:id="rId6"/>
    <p:sldId id="329" r:id="rId7"/>
    <p:sldId id="263" r:id="rId8"/>
    <p:sldId id="264" r:id="rId9"/>
    <p:sldId id="333" r:id="rId10"/>
    <p:sldId id="323" r:id="rId11"/>
    <p:sldId id="3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93" d="100"/>
          <a:sy n="93" d="100"/>
        </p:scale>
        <p:origin x="1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8F1C8-1B1F-47E1-AE47-5328A56B5EFB}" type="datetimeFigureOut">
              <a:rPr lang="en-AE" smtClean="0"/>
              <a:t>17/07/2026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2D5A6-866C-4C95-BA43-01D678B90721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34824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Customer Churn with Logistic Regression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Kanak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 and Mr. </a:t>
            </a:r>
            <a:r>
              <a:rPr lang="en-US" sz="1467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Harjeet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265" y="120244"/>
            <a:ext cx="698602" cy="6620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27532"/>
            <a:ext cx="12191695" cy="60990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687930"/>
            <a:ext cx="12191695" cy="177394"/>
          </a:xfrm>
          <a:prstGeom prst="rect">
            <a:avLst/>
          </a:prstGeom>
          <a:solidFill>
            <a:srgbClr val="2F5597"/>
          </a:solidFill>
          <a:ln/>
        </p:spPr>
        <p:txBody>
          <a:bodyPr/>
          <a:lstStyle/>
          <a:p>
            <a:pPr algn="r"/>
            <a:endParaRPr lang="en-AE" dirty="0"/>
          </a:p>
        </p:txBody>
      </p:sp>
      <p:pic>
        <p:nvPicPr>
          <p:cNvPr id="5" name="Image 1" descr="assets_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387" y="6292901"/>
            <a:ext cx="2463394" cy="3172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5712" y="10058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1795760" y="6675120"/>
            <a:ext cx="320040" cy="190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b="1" dirty="0"/>
          </a:p>
        </p:txBody>
      </p:sp>
      <p:sp>
        <p:nvSpPr>
          <p:cNvPr id="8" name="Shape 4"/>
          <p:cNvSpPr/>
          <p:nvPr/>
        </p:nvSpPr>
        <p:spPr>
          <a:xfrm>
            <a:off x="822960" y="1307592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80160" y="1234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822960" y="1874520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80160" y="1801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2960" y="2441448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80160" y="23682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22960" y="3008376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280160" y="2935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22960" y="3575304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280160" y="35021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Check (VIF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309360" y="1307592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24" name="Text 20"/>
          <p:cNvSpPr/>
          <p:nvPr/>
        </p:nvSpPr>
        <p:spPr>
          <a:xfrm>
            <a:off x="6309360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766560" y="1234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— Logistic Regression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Shape 22"/>
          <p:cNvSpPr/>
          <p:nvPr/>
        </p:nvSpPr>
        <p:spPr>
          <a:xfrm>
            <a:off x="6309360" y="1874520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27" name="Text 23"/>
          <p:cNvSpPr/>
          <p:nvPr/>
        </p:nvSpPr>
        <p:spPr>
          <a:xfrm>
            <a:off x="630936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766560" y="18013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Evaluation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309360" y="2441448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30" name="Text 26"/>
          <p:cNvSpPr/>
          <p:nvPr/>
        </p:nvSpPr>
        <p:spPr>
          <a:xfrm>
            <a:off x="630936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766560" y="23682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Business Insights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Shape 28"/>
          <p:cNvSpPr/>
          <p:nvPr/>
        </p:nvSpPr>
        <p:spPr>
          <a:xfrm>
            <a:off x="6309360" y="3008376"/>
            <a:ext cx="310896" cy="310896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33" name="Text 29"/>
          <p:cNvSpPr/>
          <p:nvPr/>
        </p:nvSpPr>
        <p:spPr>
          <a:xfrm>
            <a:off x="630936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766560" y="29352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704914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600" dirty="0"/>
              <a:t>2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 and Dataset Overview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1" name="Card 101"/>
          <p:cNvSpPr/>
          <p:nvPr/>
        </p:nvSpPr>
        <p:spPr>
          <a:xfrm>
            <a:off x="435683" y="953796"/>
            <a:ext cx="5469280" cy="24090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TextBox 102"/>
          <p:cNvSpPr txBox="1"/>
          <p:nvPr/>
        </p:nvSpPr>
        <p:spPr>
          <a:xfrm>
            <a:off x="735686" y="1072097"/>
            <a:ext cx="486928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103" name="Card 103"/>
          <p:cNvSpPr/>
          <p:nvPr/>
        </p:nvSpPr>
        <p:spPr>
          <a:xfrm>
            <a:off x="6287037" y="958296"/>
            <a:ext cx="5469280" cy="24000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6587035" y="1190648"/>
            <a:ext cx="486928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Calibri"/>
                <a:cs typeface="Calibri"/>
              </a:rPr>
              <a:t>The Objective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7FAB3-F705-476E-94B6-3182A6A95637}"/>
              </a:ext>
            </a:extLst>
          </p:cNvPr>
          <p:cNvSpPr txBox="1"/>
          <p:nvPr/>
        </p:nvSpPr>
        <p:spPr>
          <a:xfrm>
            <a:off x="630876" y="1520785"/>
            <a:ext cx="461642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Telecom providers lose recurring revenue every time a customer cancels service.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Retaining an existing customer is far cheaper than acquiring a new one.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Nearly 1 in 4 customers in this dataset has already churned.</a:t>
            </a:r>
          </a:p>
          <a:p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FAE8D1-54B7-4F7E-B362-895589E574B2}"/>
              </a:ext>
            </a:extLst>
          </p:cNvPr>
          <p:cNvSpPr txBox="1"/>
          <p:nvPr/>
        </p:nvSpPr>
        <p:spPr>
          <a:xfrm>
            <a:off x="6539891" y="1594989"/>
            <a:ext cx="49164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Build a model that predicts which customers are likely to churn.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Identify the customer attributes that drive churn.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Translate findings into actionable retention strategies.</a:t>
            </a:r>
          </a:p>
          <a:p>
            <a:endParaRPr lang="en-AE" dirty="0"/>
          </a:p>
        </p:txBody>
      </p:sp>
      <p:sp>
        <p:nvSpPr>
          <p:cNvPr id="14" name="Stat 101">
            <a:extLst>
              <a:ext uri="{FF2B5EF4-FFF2-40B4-BE49-F238E27FC236}">
                <a16:creationId xmlns:a16="http://schemas.microsoft.com/office/drawing/2014/main" id="{B05C5626-875A-4797-A3A9-7D2302C59EDD}"/>
              </a:ext>
            </a:extLst>
          </p:cNvPr>
          <p:cNvSpPr txBox="1"/>
          <p:nvPr/>
        </p:nvSpPr>
        <p:spPr>
          <a:xfrm>
            <a:off x="104448" y="3479785"/>
            <a:ext cx="283464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3200" b="1" dirty="0">
                <a:solidFill>
                  <a:srgbClr val="4472C4"/>
                </a:solidFill>
                <a:latin typeface="Calibri"/>
              </a:rPr>
              <a:t>7,043</a:t>
            </a:r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Calibri"/>
              </a:rPr>
              <a:t>Customers</a:t>
            </a:r>
          </a:p>
        </p:txBody>
      </p:sp>
      <p:sp>
        <p:nvSpPr>
          <p:cNvPr id="15" name="Stat 102">
            <a:extLst>
              <a:ext uri="{FF2B5EF4-FFF2-40B4-BE49-F238E27FC236}">
                <a16:creationId xmlns:a16="http://schemas.microsoft.com/office/drawing/2014/main" id="{47B210E7-C91D-416E-9D71-6C276B82F853}"/>
              </a:ext>
            </a:extLst>
          </p:cNvPr>
          <p:cNvSpPr txBox="1"/>
          <p:nvPr/>
        </p:nvSpPr>
        <p:spPr>
          <a:xfrm>
            <a:off x="3070323" y="3470785"/>
            <a:ext cx="283464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3200" b="1" dirty="0">
                <a:solidFill>
                  <a:srgbClr val="4472C4"/>
                </a:solidFill>
                <a:latin typeface="Calibri"/>
              </a:rPr>
              <a:t>21</a:t>
            </a:r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Calibri"/>
              </a:rPr>
              <a:t>Original Features</a:t>
            </a:r>
          </a:p>
        </p:txBody>
      </p:sp>
      <p:sp>
        <p:nvSpPr>
          <p:cNvPr id="16" name="Stat 103">
            <a:extLst>
              <a:ext uri="{FF2B5EF4-FFF2-40B4-BE49-F238E27FC236}">
                <a16:creationId xmlns:a16="http://schemas.microsoft.com/office/drawing/2014/main" id="{CC4ADC32-694F-4358-8023-2ED264FBA2DC}"/>
              </a:ext>
            </a:extLst>
          </p:cNvPr>
          <p:cNvSpPr txBox="1"/>
          <p:nvPr/>
        </p:nvSpPr>
        <p:spPr>
          <a:xfrm>
            <a:off x="5604966" y="3474564"/>
            <a:ext cx="283464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en-US" sz="3200" b="1" dirty="0">
                <a:solidFill>
                  <a:srgbClr val="4472C4"/>
                </a:solidFill>
                <a:latin typeface="Calibri"/>
              </a:rPr>
              <a:t>18</a:t>
            </a:r>
          </a:p>
          <a:p>
            <a:pPr algn="ctr"/>
            <a:r>
              <a:rPr lang="en-US" sz="1200" dirty="0">
                <a:solidFill>
                  <a:srgbClr val="666666"/>
                </a:solidFill>
                <a:latin typeface="Calibri"/>
              </a:rPr>
              <a:t>Features Used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BD867-3887-4218-B3AA-5B158F66F263}"/>
              </a:ext>
            </a:extLst>
          </p:cNvPr>
          <p:cNvSpPr txBox="1"/>
          <p:nvPr/>
        </p:nvSpPr>
        <p:spPr>
          <a:xfrm>
            <a:off x="435683" y="4961937"/>
            <a:ext cx="8855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Demographics: gender, senior citizen status, partner, dependents</a:t>
            </a:r>
          </a:p>
          <a:p>
            <a:pPr marL="228600" indent="-228600">
              <a:buFont typeface="Arial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Account details: tenure, contract type, billing method, monthly charges</a:t>
            </a:r>
          </a:p>
          <a:p>
            <a:pPr marL="228600" indent="-228600">
              <a:buFont typeface="Arial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Services subscribed: internet, online security &amp; backup, device protection, tech support, streaming TV/movies, multiple lines</a:t>
            </a:r>
          </a:p>
          <a:p>
            <a:endParaRPr lang="en-AE" dirty="0"/>
          </a:p>
        </p:txBody>
      </p:sp>
      <p:sp>
        <p:nvSpPr>
          <p:cNvPr id="21" name="TextBox 105">
            <a:extLst>
              <a:ext uri="{FF2B5EF4-FFF2-40B4-BE49-F238E27FC236}">
                <a16:creationId xmlns:a16="http://schemas.microsoft.com/office/drawing/2014/main" id="{9E098D97-64DE-427F-A680-E0E7420F20B7}"/>
              </a:ext>
            </a:extLst>
          </p:cNvPr>
          <p:cNvSpPr txBox="1"/>
          <p:nvPr/>
        </p:nvSpPr>
        <p:spPr>
          <a:xfrm>
            <a:off x="504089" y="4515114"/>
            <a:ext cx="11338560" cy="355219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/>
                <a:cs typeface="Calibri"/>
              </a:rPr>
              <a:t>Feature groups</a:t>
            </a:r>
          </a:p>
          <a:p>
            <a:pPr marL="0" indent="0">
              <a:buNone/>
            </a:pPr>
            <a:endParaRPr lang="en-US" sz="1150" b="0" i="1" dirty="0">
              <a:solidFill>
                <a:srgbClr val="666666"/>
              </a:solidFill>
              <a:latin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C48946-FB9E-4995-9587-8D40C888C3AF}"/>
              </a:ext>
            </a:extLst>
          </p:cNvPr>
          <p:cNvSpPr/>
          <p:nvPr/>
        </p:nvSpPr>
        <p:spPr>
          <a:xfrm>
            <a:off x="9552910" y="3553951"/>
            <a:ext cx="112770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</a:p>
          <a:p>
            <a:pPr algn="ctr"/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1061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265" y="120244"/>
            <a:ext cx="698602" cy="6620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27532"/>
            <a:ext cx="12191695" cy="60990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680606"/>
            <a:ext cx="12191695" cy="177394"/>
          </a:xfrm>
          <a:prstGeom prst="rect">
            <a:avLst/>
          </a:prstGeom>
          <a:solidFill>
            <a:srgbClr val="2F5597"/>
          </a:solidFill>
          <a:ln/>
        </p:spPr>
      </p:sp>
      <p:pic>
        <p:nvPicPr>
          <p:cNvPr id="5" name="Image 1" descr="assets_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387" y="6292901"/>
            <a:ext cx="2463394" cy="3172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5712" y="10058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1795760" y="66751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b="1" dirty="0"/>
          </a:p>
        </p:txBody>
      </p:sp>
      <p:sp>
        <p:nvSpPr>
          <p:cNvPr id="8" name="Shape 4"/>
          <p:cNvSpPr/>
          <p:nvPr/>
        </p:nvSpPr>
        <p:spPr>
          <a:xfrm>
            <a:off x="822960" y="937260"/>
            <a:ext cx="502920" cy="502920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" y="92285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426381" y="891477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Irrelevant / Redundant Columns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36678" y="1224144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customerID (identifier), TotalCharges (redundant with tenure × MonthlyCharges), and PhoneService (near-constant, low signal).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822960" y="1586067"/>
            <a:ext cx="502920" cy="502920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13" name="Text 9"/>
          <p:cNvSpPr/>
          <p:nvPr/>
        </p:nvSpPr>
        <p:spPr>
          <a:xfrm>
            <a:off x="821519" y="1592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26381" y="150147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26381" y="183441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df.isnull().sum() — zero missing values across all remaining 18 columns.</a:t>
            </a:r>
            <a:endParaRPr lang="en-US" sz="12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1519" y="2267725"/>
            <a:ext cx="502920" cy="524902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17" name="Text 13"/>
          <p:cNvSpPr/>
          <p:nvPr/>
        </p:nvSpPr>
        <p:spPr>
          <a:xfrm>
            <a:off x="821519" y="226772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426381" y="2200469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424940" y="2542966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sklearn LabelEncoder to all categorical fields: gender, Partner, Dependents, MultipleLines, InternetService, OnlineSecurity, OnlineBackup, DeviceProtection, TechSupport, StreamingTV, StreamingMovies, Contract, PaperlessBilling, PaymentMethod.</a:t>
            </a:r>
            <a:endParaRPr lang="en-US" sz="12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21519" y="3018023"/>
            <a:ext cx="502920" cy="502920"/>
          </a:xfrm>
          <a:prstGeom prst="ellipse">
            <a:avLst/>
          </a:prstGeom>
          <a:solidFill>
            <a:srgbClr val="2F5597"/>
          </a:solidFill>
          <a:ln/>
        </p:spPr>
      </p:sp>
      <p:sp>
        <p:nvSpPr>
          <p:cNvPr id="21" name="Text 17"/>
          <p:cNvSpPr/>
          <p:nvPr/>
        </p:nvSpPr>
        <p:spPr>
          <a:xfrm>
            <a:off x="809781" y="300782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436678" y="3041739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436678" y="3380702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all features with </a:t>
            </a:r>
            <a:r>
              <a:rPr lang="en-US" sz="1250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r>
              <a:rPr lang="en-US" sz="12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model training.</a:t>
            </a:r>
            <a:endParaRPr lang="en-US" sz="12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C89529-A707-4B84-A3F1-31B658EB72CC}"/>
              </a:ext>
            </a:extLst>
          </p:cNvPr>
          <p:cNvSpPr txBox="1"/>
          <p:nvPr/>
        </p:nvSpPr>
        <p:spPr>
          <a:xfrm>
            <a:off x="447450" y="3719007"/>
            <a:ext cx="5453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Inflation Factor (Top Features)</a:t>
            </a:r>
            <a:endParaRPr lang="en-US" dirty="0"/>
          </a:p>
          <a:p>
            <a:endParaRPr lang="en-AE" dirty="0"/>
          </a:p>
        </p:txBody>
      </p:sp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BEC4C8F8-B6D3-4EB2-BDF6-7B6ED6B16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586474"/>
              </p:ext>
            </p:extLst>
          </p:nvPr>
        </p:nvGraphicFramePr>
        <p:xfrm>
          <a:off x="4603507" y="3939531"/>
          <a:ext cx="5036078" cy="2460720"/>
        </p:xfrm>
        <a:graphic>
          <a:graphicData uri="http://schemas.openxmlformats.org/drawingml/2006/table">
            <a:tbl>
              <a:tblPr/>
              <a:tblGrid>
                <a:gridCol w="3414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StreamingMovies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StreamingTV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PaperlessBilling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24E1C845-0639-439A-A8DA-61DC4D1976C6}"/>
              </a:ext>
            </a:extLst>
          </p:cNvPr>
          <p:cNvSpPr txBox="1"/>
          <p:nvPr/>
        </p:nvSpPr>
        <p:spPr>
          <a:xfrm>
            <a:off x="546991" y="4257779"/>
            <a:ext cx="40447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cs typeface="Calibri"/>
              </a:rPr>
              <a:t>Checked multicollinearity with Variance Inflation Factor (VIF) — all features scored well below the common threshold of 10.</a:t>
            </a:r>
          </a:p>
          <a:p>
            <a:endParaRPr lang="en-A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400" b="1" dirty="0"/>
              <a:t>4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Analysis: Class Imbalance &amp; Categorical Drivers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1" name="Card 101"/>
          <p:cNvSpPr/>
          <p:nvPr/>
        </p:nvSpPr>
        <p:spPr>
          <a:xfrm>
            <a:off x="412702" y="2159349"/>
            <a:ext cx="3579520" cy="34085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7EF"/>
            </a:solidFill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2" name="Chart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46" y="2451711"/>
            <a:ext cx="3007378" cy="2350000"/>
          </a:xfrm>
          <a:prstGeom prst="rect">
            <a:avLst/>
          </a:prstGeom>
        </p:spPr>
      </p:pic>
      <p:sp>
        <p:nvSpPr>
          <p:cNvPr id="103" name="TextBox 103"/>
          <p:cNvSpPr txBox="1"/>
          <p:nvPr/>
        </p:nvSpPr>
        <p:spPr>
          <a:xfrm>
            <a:off x="712702" y="4978274"/>
            <a:ext cx="327952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sz="1100" b="0" i="1" dirty="0">
                <a:solidFill>
                  <a:srgbClr val="666666"/>
                </a:solidFill>
                <a:latin typeface="Calibri"/>
                <a:cs typeface="Calibri"/>
              </a:rPr>
              <a:t>Churn is imbalanced: ~26.5% of customers churned.</a:t>
            </a:r>
          </a:p>
        </p:txBody>
      </p:sp>
      <p:sp>
        <p:nvSpPr>
          <p:cNvPr id="104" name="Card 104"/>
          <p:cNvSpPr/>
          <p:nvPr/>
        </p:nvSpPr>
        <p:spPr>
          <a:xfrm>
            <a:off x="4144711" y="2159349"/>
            <a:ext cx="3579520" cy="34085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7EF"/>
            </a:solidFill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5" name="Chart 1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545" y="2323499"/>
            <a:ext cx="3014017" cy="2350000"/>
          </a:xfrm>
          <a:prstGeom prst="rect">
            <a:avLst/>
          </a:prstGeom>
        </p:spPr>
      </p:pic>
      <p:sp>
        <p:nvSpPr>
          <p:cNvPr id="106" name="TextBox 106"/>
          <p:cNvSpPr txBox="1"/>
          <p:nvPr/>
        </p:nvSpPr>
        <p:spPr>
          <a:xfrm>
            <a:off x="4315205" y="4867921"/>
            <a:ext cx="327952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sz="1100" b="0" i="1" dirty="0">
                <a:solidFill>
                  <a:srgbClr val="666666"/>
                </a:solidFill>
                <a:latin typeface="Calibri"/>
                <a:cs typeface="Calibri"/>
              </a:rPr>
              <a:t>Month-to-month contracts churn far more than long-term ones.</a:t>
            </a:r>
          </a:p>
        </p:txBody>
      </p:sp>
      <p:sp>
        <p:nvSpPr>
          <p:cNvPr id="107" name="Card 107"/>
          <p:cNvSpPr/>
          <p:nvPr/>
        </p:nvSpPr>
        <p:spPr>
          <a:xfrm>
            <a:off x="7938096" y="2159349"/>
            <a:ext cx="3579520" cy="34108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7EF"/>
            </a:solidFill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8" name="Chart 1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02" y="2362809"/>
            <a:ext cx="3007378" cy="2350000"/>
          </a:xfrm>
          <a:prstGeom prst="rect">
            <a:avLst/>
          </a:prstGeom>
        </p:spPr>
      </p:pic>
      <p:sp>
        <p:nvSpPr>
          <p:cNvPr id="109" name="TextBox 109"/>
          <p:cNvSpPr txBox="1"/>
          <p:nvPr/>
        </p:nvSpPr>
        <p:spPr>
          <a:xfrm>
            <a:off x="8199778" y="4867921"/>
            <a:ext cx="327952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sz="1100" b="0" i="1" dirty="0">
                <a:solidFill>
                  <a:srgbClr val="666666"/>
                </a:solidFill>
                <a:latin typeface="Calibri"/>
                <a:cs typeface="Calibri"/>
              </a:rPr>
              <a:t>Fiber-optic internet customers churn at the highest rate.</a:t>
            </a:r>
          </a:p>
        </p:txBody>
      </p:sp>
    </p:spTree>
    <p:extLst>
      <p:ext uri="{BB962C8B-B14F-4D97-AF65-F5344CB8AC3E}">
        <p14:creationId xmlns:p14="http://schemas.microsoft.com/office/powerpoint/2010/main" val="3215718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400" b="1" dirty="0"/>
              <a:t>5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Analysis: Correlation &amp; Numeric Drivers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560772-8CDE-4FAC-9CCA-EE97C81C63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3" t="-750" r="6456" b="1658"/>
          <a:stretch/>
        </p:blipFill>
        <p:spPr>
          <a:xfrm>
            <a:off x="1573426" y="924531"/>
            <a:ext cx="9305079" cy="52311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123C85-6860-4324-B6F8-0FE7D4B56EC6}"/>
              </a:ext>
            </a:extLst>
          </p:cNvPr>
          <p:cNvSpPr txBox="1"/>
          <p:nvPr/>
        </p:nvSpPr>
        <p:spPr>
          <a:xfrm>
            <a:off x="3138617" y="6185699"/>
            <a:ext cx="4802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666666"/>
                </a:solidFill>
                <a:cs typeface="Calibri"/>
              </a:rPr>
              <a:t>Correlation heatmap across all encoded features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325757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265" y="120244"/>
            <a:ext cx="698602" cy="6620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27532"/>
            <a:ext cx="12191695" cy="60990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4" name="Shape 1"/>
          <p:cNvSpPr/>
          <p:nvPr/>
        </p:nvSpPr>
        <p:spPr>
          <a:xfrm>
            <a:off x="-15088" y="6679692"/>
            <a:ext cx="12191695" cy="177394"/>
          </a:xfrm>
          <a:prstGeom prst="rect">
            <a:avLst/>
          </a:prstGeom>
          <a:solidFill>
            <a:srgbClr val="2F5597"/>
          </a:solidFill>
          <a:ln/>
        </p:spPr>
      </p:sp>
      <p:pic>
        <p:nvPicPr>
          <p:cNvPr id="5" name="Image 1" descr="assets_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387" y="6292901"/>
            <a:ext cx="2463394" cy="3172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5712" y="10058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Performance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1795760" y="6679692"/>
            <a:ext cx="320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b="1" dirty="0"/>
          </a:p>
        </p:txBody>
      </p:sp>
      <p:sp>
        <p:nvSpPr>
          <p:cNvPr id="8" name="Text 4"/>
          <p:cNvSpPr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·  80/20 train-test split  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Image 2" descr="images/cell25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463040"/>
            <a:ext cx="4206240" cy="3383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4864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hape 6"/>
          <p:cNvSpPr/>
          <p:nvPr/>
        </p:nvSpPr>
        <p:spPr>
          <a:xfrm>
            <a:off x="5257800" y="14630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2F5597"/>
          </a:solidFill>
          <a:ln/>
        </p:spPr>
      </p:sp>
      <p:sp>
        <p:nvSpPr>
          <p:cNvPr id="12" name="Text 7"/>
          <p:cNvSpPr/>
          <p:nvPr/>
        </p:nvSpPr>
        <p:spPr>
          <a:xfrm>
            <a:off x="525780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81.41%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5257800" y="2084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321040" y="14630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2F5597"/>
          </a:solidFill>
          <a:ln/>
        </p:spPr>
      </p:sp>
      <p:sp>
        <p:nvSpPr>
          <p:cNvPr id="15" name="Text 10"/>
          <p:cNvSpPr/>
          <p:nvPr/>
        </p:nvSpPr>
        <p:spPr>
          <a:xfrm>
            <a:off x="832104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0.858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8321040" y="2084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257800" y="27432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419926"/>
              </p:ext>
            </p:extLst>
          </p:nvPr>
        </p:nvGraphicFramePr>
        <p:xfrm>
          <a:off x="5257799" y="3127248"/>
          <a:ext cx="6168520" cy="1152144"/>
        </p:xfrm>
        <a:graphic>
          <a:graphicData uri="http://schemas.openxmlformats.org/drawingml/2006/table">
            <a:tbl>
              <a:tblPr/>
              <a:tblGrid>
                <a:gridCol w="1732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9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Churn (0)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5257800" y="470916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correctly identifies 90% of loyal customers, and captures 57% of customers who actually churn — a solid baseline for a linear model.</a:t>
            </a:r>
            <a:endParaRPr lang="en-US" sz="125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_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265" y="120244"/>
            <a:ext cx="698602" cy="6620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27532"/>
            <a:ext cx="12191695" cy="60990"/>
          </a:xfrm>
          <a:prstGeom prst="rect">
            <a:avLst/>
          </a:prstGeom>
          <a:solidFill>
            <a:srgbClr val="2F5597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679692"/>
            <a:ext cx="12191695" cy="177394"/>
          </a:xfrm>
          <a:prstGeom prst="rect">
            <a:avLst/>
          </a:prstGeom>
          <a:solidFill>
            <a:srgbClr val="2F5597"/>
          </a:solidFill>
          <a:ln/>
        </p:spPr>
      </p:sp>
      <p:pic>
        <p:nvPicPr>
          <p:cNvPr id="5" name="Image 1" descr="assets_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387" y="6292901"/>
            <a:ext cx="2463394" cy="3172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5712" y="10058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&amp; Key Churn Drivers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1795760" y="6679692"/>
            <a:ext cx="320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8" name="Image 2" descr="images/cell24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143000"/>
            <a:ext cx="4434840" cy="3566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0080" y="47548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 (AUC = 0.858)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349240" y="1143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Odds-Ratio Drivers (Full Model)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/>
          </p:nvPr>
        </p:nvGraphicFramePr>
        <p:xfrm>
          <a:off x="5349240" y="1572768"/>
          <a:ext cx="6217920" cy="2560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PaperlessBilling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MultipleLines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349240" y="4617720"/>
            <a:ext cx="6217920" cy="1737360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13" name="Text 7"/>
          <p:cNvSpPr/>
          <p:nvPr/>
        </p:nvSpPr>
        <p:spPr>
          <a:xfrm>
            <a:off x="5532120" y="47548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tenure and longer-term contracts are the strongest protective factors. Higher monthly charges and paperless billing are the strongest churn risk factors.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400" b="1" dirty="0"/>
              <a:t>8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1" name="Card 101"/>
          <p:cNvSpPr/>
          <p:nvPr/>
        </p:nvSpPr>
        <p:spPr>
          <a:xfrm>
            <a:off x="254453" y="2469556"/>
            <a:ext cx="5469280" cy="2242184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TextBox 102"/>
          <p:cNvSpPr txBox="1"/>
          <p:nvPr/>
        </p:nvSpPr>
        <p:spPr>
          <a:xfrm>
            <a:off x="435685" y="2611740"/>
            <a:ext cx="486928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/>
                <a:cs typeface="Calibri"/>
              </a:rPr>
              <a:t>Conclusions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Logistic regression achieves 0.86 ROC-AUC — a strong, interpretable baseline.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Contract type, tenure and monthly charges are the dominant churn drivers.</a:t>
            </a:r>
          </a:p>
        </p:txBody>
      </p:sp>
      <p:sp>
        <p:nvSpPr>
          <p:cNvPr id="103" name="Card 103"/>
          <p:cNvSpPr/>
          <p:nvPr/>
        </p:nvSpPr>
        <p:spPr>
          <a:xfrm>
            <a:off x="6159418" y="2277120"/>
            <a:ext cx="5469280" cy="2802357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6374305" y="2348584"/>
            <a:ext cx="4869280" cy="4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/>
                <a:cs typeface="Calibri"/>
              </a:rPr>
              <a:t>Recommendations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Target month-to-month, high-bill customers with retention offers.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Promote annual/two-year contracts and bundled security &amp; support add-ons.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Explore tree-based models (Random Forest) to push accuracy further.</a:t>
            </a:r>
          </a:p>
        </p:txBody>
      </p:sp>
    </p:spTree>
    <p:extLst>
      <p:ext uri="{BB962C8B-B14F-4D97-AF65-F5344CB8AC3E}">
        <p14:creationId xmlns:p14="http://schemas.microsoft.com/office/powerpoint/2010/main" val="3489275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1400" dirty="0"/>
              <a:t>9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1" name="TextBox 101"/>
          <p:cNvSpPr txBox="1"/>
          <p:nvPr/>
        </p:nvSpPr>
        <p:spPr>
          <a:xfrm>
            <a:off x="435685" y="1020000"/>
            <a:ext cx="11338560" cy="30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Dataset: Telco Customer Churn (Customer-Churn2.csv), IBM Sample Data Sets.</a:t>
            </a:r>
          </a:p>
          <a:p>
            <a:pPr marL="228600" indent="-228600">
              <a:buFont typeface="Arial"/>
              <a:buChar char="•"/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Pedregosa, F. et al. (2011). Scikit-learn: Machine Learning in Python. JMLR 12, 2825–2830.</a:t>
            </a:r>
          </a:p>
          <a:p>
            <a:pPr marL="228600" indent="-228600">
              <a:buFont typeface="Arial"/>
              <a:buChar char="•"/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McKinney, W. (2010). Data Structures for Statistical Computing in Python. Proc. SciPy.</a:t>
            </a:r>
          </a:p>
          <a:p>
            <a:pPr marL="228600" indent="-228600">
              <a:buFont typeface="Arial"/>
              <a:buChar char="•"/>
            </a:pPr>
            <a:r>
              <a:rPr lang="en-US" sz="1600" b="0" dirty="0">
                <a:solidFill>
                  <a:schemeClr val="accent1">
                    <a:lumMod val="75000"/>
                  </a:schemeClr>
                </a:solidFill>
                <a:latin typeface="Calibri"/>
                <a:cs typeface="Calibri"/>
              </a:rPr>
              <a:t>Hosmer, D.W., Lemeshow, S., Sturdivant, R.X. (2013). Applied Logistic Regression, 3rd ed. Wiley.</a:t>
            </a:r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DE4154-4859-4A3C-BD22-8C88203B5CF1}"/>
              </a:ext>
            </a:extLst>
          </p:cNvPr>
          <p:cNvSpPr/>
          <p:nvPr/>
        </p:nvSpPr>
        <p:spPr>
          <a:xfrm>
            <a:off x="1721707" y="2879035"/>
            <a:ext cx="5436973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6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You </a:t>
            </a:r>
          </a:p>
        </p:txBody>
      </p:sp>
      <p:pic>
        <p:nvPicPr>
          <p:cNvPr id="11" name="Picture 2" descr="1,900+ Thank You Presentation Stock Photos, Pictures &amp; Royalty-Free Images  - iStock">
            <a:extLst>
              <a:ext uri="{FF2B5EF4-FFF2-40B4-BE49-F238E27FC236}">
                <a16:creationId xmlns:a16="http://schemas.microsoft.com/office/drawing/2014/main" id="{7769F8C1-C22E-487E-92D1-D01238B2E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598" y="1390394"/>
            <a:ext cx="5829300" cy="364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866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723</Words>
  <Application>Microsoft Office PowerPoint</Application>
  <PresentationFormat>Widescreen</PresentationFormat>
  <Paragraphs>156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admin</cp:lastModifiedBy>
  <cp:revision>53</cp:revision>
  <dcterms:created xsi:type="dcterms:W3CDTF">2026-05-21T06:29:53Z</dcterms:created>
  <dcterms:modified xsi:type="dcterms:W3CDTF">2026-07-17T05:15:10Z</dcterms:modified>
</cp:coreProperties>
</file>